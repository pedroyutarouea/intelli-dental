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tarde. Vou apresentar um MVP acadêmico de um CRM para clínicas odontológicas que incorpora um chat inteligente. O diferencial é a implementação atual de um RAG por paciente evoluído para um fluxo agentic, com orquestração no backend, recuperação vetorial, ferramentas de agendamento, validação de evidência e um registro persistente de cada execução para estudo e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 partida é prático. Em clínicas odontológicas, o histórico do paciente está fragmentado entre fichas de papel, PDFs e anotações livres. Isso torna a busca por informações lenta — por exemplo, lembrar qual foi a última queixa de dor. Além disso, agendamentos e acompanhamentos são manuais e os dados clínicos acumulados quase nunca são usados de forma inteligente. O objetivo do projeto é atacar exatamente essas quatro 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proposta é um CRM Dental enxuto, mas completo no essencial: cadastro de pacientes, anamnese estruturada, agendamentos, documentos e ingestão RAG. O diferencial atual é o chat agentic: além de consultar informações em linguagem natural, ele pode usar ferramentas de agendamento e expõe o curso de ações em um registro persistido para estudo.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falar de agentes, é importante entender o RAG tradicional. O fluxo é linear: a pergunta do usuário é convertida em um vetor numérico (embedding); fazemos uma busca por similaridade num banco vetorial para recuperar os trechos mais relevantes; esse contexto é inserido no prompt; e o LLM gera a resposta. É simples e eficaz, mas tem limitações importantes — que vejo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RAG tradicional recupera contexto uma única vez: se a busca falhar, não há segunda tentativa. Ele pode trazer documentos pouco relevantes, não planeja a tarefa, não escolhe ferramentas (como consultar o banco relacional ou uma API de calendário) e tem dificuldade com perguntas que exigem várias etapas. Por fim, não valida se a resposta está realmente fundamentada nas fontes. Essas limitações motivam a evolução para Agentic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implementação atual, Agentic RAG não significa agentes autônomos soltos. Significa um conjunto de serviços especializados coordenados por uma máquina de estados determinística no NestJS. O roteador classifica a intenção, o planner e o rewriter preparam consultas, o retriever combina ChromaDB com fallback Postgres, o evaluator e o verifier controlam a qualidade da evidência, e o Tool Registry executa ações somente com confirmação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visão geral. O Frontend em Next.js conversa com a API backend em NestJS, que funciona como fronteira de segurança: autentica, resolve a clínica ativa e fixa o escopo do paciente. Dentro da API, o Orquestrador de Agentes controla a execução. Ele chama o serviço RAG por endpoints primitivos, consulta Postgres para dados estruturados e traces, usa ChromaDB como índice vetorial e Ollama para embeddings e geração. A resposta volta por SSE com fontes, métricas e o identificador do agent_run.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ingestão começa no backend, não no serviço RAG. A API valida o usuário, a clínica e o paciente, grava o arquivo ou snapshot de anamnese, cria o estado de ingestão e só então chama o RAG. O RAG parseia, faz chunking, gera embeddings com Ollama e grava no ChromaDB com metadados do paciente e da fonte. O Postgres continua sendo a fonte autoritativa: documentos, anamneses, versões e status ficam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fluxo atual, o paciente não é escolhido pelo LLM: ele já está preso à sessão de chat validada pela API. A pergunta entra no endpoint agentic, o roteador classifica a intenção, o planner e o rewriter preparam consultas, o RetrieverTool busca no ChromaDB e pode complementar com Postgres, e o evaluator/verifier controlam contexto e fundamentação. A UI recebe tokens, fontes, métricas e o agentRunId, que permite abrir o trace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troca nomes genéricos por componentes reais do código. O AgentOrchestrator coordena a máquina de estados; o IntentRouter classifica a intenção; planner e rewriter estruturam as consultas; RetrieverTool chama o RAG e pode usar Postgres; ContextEvaluator decide se o contexto basta; AnswerGenerator gera a resposta; AnswerVerifier verifica groundedness; e AgentTracing persiste tudo para inspeção.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Tecnicamente, o agente é um módulo NestJS com serviços injetáveis. A parte importante para estudar é que o orquestrador não mistura responsabilidades: roteamento, planejamento, reescrita, recuperação, avaliação, geração, verificação, ferramentas, tracing e memória são componentes separados. Isso facilita testes, troca de modelos, feature flags e inspeção acadêmica do comportamento.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coração do agente é um loop determinístico, não uma cadeia mágica. A pergunta é primeiro sanitizada; o orquestrador roteia a intenção; recupera contexto; e o avaliador decide se é suficiente. Se não for, há a correção iterativa: ele reescreve a query e tenta de novo — essa é a seta laranja de retorno. Quando o contexto basta, gera a resposta, verifica a fundamentação e persiste. Tudo isso roda sob um orçamento explícito: número máximo de chamadas ao LLM, tentativas de recuperação e tempo de parede. Se o orçamento estoura, o loop é cortado e caímos num fallback seguro, evitando custo e latência descontrolados.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Confiabilidade e segurança são tratadas como mecanismos concretos. O ContextEvaluator produz uma estrutura tipada para decidir se o contexto basta. O AnswerVerifier controla groundedness e citações, e pode fazer downgrade para evidência insuficiente. A RAG-Triad fica persistida por mensagem. A fronteira de confiança é a API NestJS, com JWT, escopo de clínica e escopo de paciente. Além disso, os traces ficam auditáveis no Postgres e na UI. Por fim, qualquer ferramenta mutável passa por preview e confirmação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o ponto é mostrar diferença prática. O loop recuperar-avaliar dá uma segunda chance ao contexto. O roteador e o planner permitem perguntas multi-etapa. O RetrieverTool híbrido evita depender exclusivamente do vetor store. O ToolRegistry habilita agendamentos com confirmação. O verifier e as citações reduzem alucinação. E o registro RAG no UI transforma uma resposta em objeto de estudo: dá para ver cada step, input, output, chunks, scores, latência 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eu atualizo as decisões para o estado real do projeto. O banco vetorial é ChromaDB, escolhido por simplicidade e filtro por metadados. Postgres continua sendo a fonte autoritativa. Ollama mantém modelos locais, o que favorece privacidade e custo zero em ambiente acadêmico. NestJS concentra a fronteira de segurança e a orquestração. O RAG legado continua existindo, mas o Agentic RAG entrega mais auditoria e robustez ao custo de mais complexidade.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vantagens do Agentic RAG vêm justamente de superar as limitações do RAG tradicional. A recuperação melhora porque é iterativa e corretiva. O sistema lida com perguntas de múltiplas etapas. A validação de evidência reduz alucinações. A escolha dinâmica de ferramentas permite executar ações de agendamento com confirmação humana. A explicabilidade aumenta porque o sistema mostra steps, métricas, chunks e fontes. No conjunto, fica muito mais adequado a tarefas reais e complexas de uma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preciso ser honesto sobre os riscos. O Agentic RAG é mais complexo de construir e manter. Cada pergunta pode gerar várias chamadas ao LLM, elevando custo de tokens e latência. Como os traces armazenam dados úteis para estudo, em produção seria necessário redigir PII com mais rigor. Como lidamos com dados clínicos, o controle de permissões e o isolamento por paciente são obrigatórios. E há o risco de um agente executar ações indevidas — por isso adotamos confirmação humana (preview → commit) para qualquer ação que altere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Delimitar o escopo é essencial num trabalho acadêmico. Entram no MVP: cadastro de pacientes, anamnese, documentos, chat com Agentic RAG, busca semântica em ChromaDB combinada com Postgres, ferramentas de agenda e o registro RAG inspecionável. Ficam deliberadamente de fora: integração real com sistemas hospitalares, diagnóstico médico automatizado, ações sem confirmação humana, treinamento próprio de LLM e uma política completa de produção/LGPD. Esses limites mantêm o projeto viável e eticamente responsável.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concluir: o Agentic RAG torna o CRM Dental mais inteligente porque muda a natureza do sistema. Ele deixa de apenas buscar informação e passa a planejar a tarefa, validar a evidência, usar ferramentas quando necessário e registrar sua própria execução. Para um contexto clínico e acadêmico, onde confiança, rastreabilidade e estudo técnico são críticos, essa evolução faz diferença real — mesmo num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Encerro por aqui e abro para perguntas. Obrigado pela atenção. Estou à disposição para detalhar a arquitetura, as escolhas técnicas ou o escopo do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500000">
            <a:off x="7863840" y="-1371600"/>
            <a:ext cx="6400800" cy="6400800"/>
          </a:xfrm>
          <a:prstGeom prst="round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500000">
            <a:off x="9326880" y="3291840"/>
            <a:ext cx="5486400" cy="54864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1500000">
            <a:off x="10058400" y="182880"/>
            <a:ext cx="2011680" cy="201168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548640" cy="11887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6B6D4"/>
                </a:solidFill>
                <a:latin typeface="Segoe UI"/>
              </a:rPr>
              <a:t>PROJETO ACADÊMICO ·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40280"/>
            <a:ext cx="75895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CRM Dental com Chat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Inteligente usando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06B6D4"/>
                </a:solidFill>
                <a:latin typeface="Segoe UI"/>
              </a:rPr>
              <a:t>Agentic 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4709160"/>
            <a:ext cx="3108960" cy="36576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4A3B8"/>
                </a:solidFill>
                <a:latin typeface="Segoe UI"/>
              </a:rPr>
              <a:t>Arquitetura técnica atual: CRM, RAG local, orquestração agentic e observabilidade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Segoe UI"/>
              </a:rPr>
              <a:t>Next.js · NestJS · Postgres · ChromaDB · Ollama · Agent traces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O problema nas clínicas odontológicas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Dados clínicos existem, mas são pouco aproveitados no dia a 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2670048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91440" cy="31089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40487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53512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Histórico disperso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19272"/>
            <a:ext cx="22128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Informações do paciente espalhadas em fichas, PDFs, anotações e sistemas diferentes.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240280"/>
            <a:ext cx="2670048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240280"/>
            <a:ext cx="91440" cy="31089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39312" y="2404872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953512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Busca lenta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3319272"/>
            <a:ext cx="22128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Encontrar a última queixa ou um procedimento exige folhear vários registros.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240280"/>
            <a:ext cx="2670048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240280"/>
            <a:ext cx="91440" cy="31089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73952" y="240487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953512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Processos manuais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319272"/>
            <a:ext cx="22128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Agendamentos e acompanhamentos dependem de trabalho repetitivo da equipe.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2240280"/>
            <a:ext cx="2670048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52560" y="2240280"/>
            <a:ext cx="91440" cy="31089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08592" y="2404872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2953512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Dados subutilizados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2" y="3319272"/>
            <a:ext cx="22128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O conhecimento clínico acumulado raramente vira apoio à decisão.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Proposta do MVP: um CRM Dental com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Centraliza os dados do paciente e os torna consultáveis em linguagem natural.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91440" cy="1508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40487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5351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Cadastro de pacientes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19272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Dados demográficos e de contato centralizados.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24028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240280"/>
            <a:ext cx="91440" cy="15087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2404872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95351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Anamnese estruturada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319272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Alergias, medicações, histórico e consentimento em Postgres.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224028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6" y="2240280"/>
            <a:ext cx="91440" cy="1508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47888" y="240487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95351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Agendamentos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319272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Status machine, auto-agendamento e aprovação pela clínica.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50208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50208"/>
            <a:ext cx="91440" cy="1508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" y="4114800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663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Documentos + ingestão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9200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PDF/TXT/JSON/HTML viram chunks indexados no ChromaDB.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3950208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8" y="3950208"/>
            <a:ext cx="91440" cy="15087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26280" y="4114800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663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Chat agentic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5029200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Consulta evidências, usa ferramentas e mostra o trace da execução.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950208"/>
            <a:ext cx="3520440" cy="1508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🌟  Diferencial do projeto</a:t>
            </a:r>
          </a:p>
          <a:p>
            <a:r>
              <a:rPr sz="1250">
                <a:solidFill>
                  <a:srgbClr val="ECFEFF"/>
                </a:solidFill>
                <a:latin typeface="Segoe UI"/>
              </a:rPr>
              <a:t>O chat com Agentic RAG conecta tudo isso.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FUNDAMENTO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RAG tradicional: busca + geração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Retrieval-Augmented Generation: o LLM responde com base em contexto recuperado.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447" y="3017520"/>
            <a:ext cx="16002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latin typeface="Segoe UI"/>
              </a:rPr>
              <a:t>👤</a:t>
            </a:r>
          </a:p>
          <a:p>
            <a:pPr algn="ctr"/>
            <a:r>
              <a:rPr sz="1300" b="1">
                <a:solidFill>
                  <a:srgbClr val="0F172A"/>
                </a:solidFill>
                <a:latin typeface="Segoe UI"/>
              </a:rPr>
              <a:t>Usuário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3017520"/>
            <a:ext cx="160020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209647.5" y="3589020.0"/>
            <a:ext cx="274320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83967" y="3017520"/>
            <a:ext cx="16002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latin typeface="Segoe UI"/>
              </a:rPr>
              <a:t>❓</a:t>
            </a:r>
          </a:p>
          <a:p>
            <a:pPr algn="ctr"/>
            <a:r>
              <a:rPr sz="1300" b="1">
                <a:solidFill>
                  <a:srgbClr val="0F172A"/>
                </a:solidFill>
                <a:latin typeface="Segoe UI"/>
              </a:rPr>
              <a:t>Pergunta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83967" y="3017520"/>
            <a:ext cx="160020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084167.5" y="3589020.0"/>
            <a:ext cx="274320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58487" y="3017520"/>
            <a:ext cx="16002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latin typeface="Segoe UI"/>
              </a:rPr>
              <a:t>🧭</a:t>
            </a:r>
          </a:p>
          <a:p>
            <a:pPr algn="ctr"/>
            <a:r>
              <a:rPr sz="1300" b="1">
                <a:solidFill>
                  <a:srgbClr val="0F172A"/>
                </a:solidFill>
                <a:latin typeface="Segoe UI"/>
              </a:rPr>
              <a:t>Busca vetorial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8487" y="3017520"/>
            <a:ext cx="1600200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958687.5" y="3589020.0"/>
            <a:ext cx="274320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33007" y="3017520"/>
            <a:ext cx="16002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latin typeface="Segoe UI"/>
              </a:rPr>
              <a:t>📄</a:t>
            </a:r>
          </a:p>
          <a:p>
            <a:pPr algn="ctr"/>
            <a:r>
              <a:rPr sz="1300" b="1">
                <a:solidFill>
                  <a:srgbClr val="0F172A"/>
                </a:solidFill>
                <a:latin typeface="Segoe UI"/>
              </a:rPr>
              <a:t>Contexto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017520"/>
            <a:ext cx="1600200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833207.5" y="3589020.0"/>
            <a:ext cx="274320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07527" y="3017520"/>
            <a:ext cx="16002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latin typeface="Segoe UI"/>
              </a:rPr>
              <a:t>🧠</a:t>
            </a:r>
          </a:p>
          <a:p>
            <a:pPr algn="ctr"/>
            <a:r>
              <a:rPr sz="1300" b="1">
                <a:solidFill>
                  <a:srgbClr val="0F172A"/>
                </a:solidFill>
                <a:latin typeface="Segoe UI"/>
              </a:rPr>
              <a:t>LLM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7527" y="3017520"/>
            <a:ext cx="1600200" cy="109728"/>
          </a:xfrm>
          <a:prstGeom prst="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707727.5" y="3589020.0"/>
            <a:ext cx="274320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982047" y="3017520"/>
            <a:ext cx="16002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latin typeface="Segoe UI"/>
              </a:rPr>
              <a:t>✅</a:t>
            </a:r>
          </a:p>
          <a:p>
            <a:pPr algn="ctr"/>
            <a:r>
              <a:rPr sz="1300" b="1">
                <a:solidFill>
                  <a:srgbClr val="0F172A"/>
                </a:solidFill>
                <a:latin typeface="Segoe UI"/>
              </a:rPr>
              <a:t>Resposta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82047" y="3017520"/>
            <a:ext cx="1600200" cy="1097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A pergunta vira um vetor (embedding), o sistema busca os trechos mais semelhantes no banco vetorial e injeta esse contexto no prompt do LLM, que então gera a resposta.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MOTIVAÇÃO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Limitações do RAG tradicional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Um único passo de busca não dá conta de perguntas complexas.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5204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91440" cy="1417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313432"/>
            <a:ext cx="45720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Recupera uma única vez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2783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Sem nova tentativa se o contexto vier fraco.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148840"/>
            <a:ext cx="35204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48840"/>
            <a:ext cx="91440" cy="1417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2313432"/>
            <a:ext cx="45720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Contexto pouco relevante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22783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Pode trazer trechos que não respondem à pergunta.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2148840"/>
            <a:ext cx="35204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6" y="2148840"/>
            <a:ext cx="91440" cy="1417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47888" y="2313432"/>
            <a:ext cx="45720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Não planeja tarefas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22783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Não decompõe perguntas em etapas.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40"/>
            <a:ext cx="35204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49040"/>
            <a:ext cx="91440" cy="1417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" y="3913632"/>
            <a:ext cx="45720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4622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Não escolhe ferramentas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82803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Não consulta banco estruturado nem APIs.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3749040"/>
            <a:ext cx="35204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8" y="3749040"/>
            <a:ext cx="91440" cy="1417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26280" y="3913632"/>
            <a:ext cx="45720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4622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Sofre com perguntas complexas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82803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Perguntas multi-etapas ficam incompletas.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749040"/>
            <a:ext cx="35204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91856" y="3749040"/>
            <a:ext cx="91440" cy="1417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47888" y="3913632"/>
            <a:ext cx="45720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4622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Não valida a resposta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828032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Sem checagem de fundamentação nas fontes.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EVOLUÇÃO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De RAG para Agentic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Agentes especializados que planejam, decidem e cooperam.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91440" cy="13716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31343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Orquestrador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Controla a máquina de estados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48840"/>
            <a:ext cx="9144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2313432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Roteador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Classifica intenção e custo esperado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6" y="2148840"/>
            <a:ext cx="91440" cy="13716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47888" y="231343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Planner/Rewriter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Decompõe e normaliza consultas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03320"/>
            <a:ext cx="9144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" y="3867912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Retriever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Combina ChromaDB e fallback Postgres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8" y="3703320"/>
            <a:ext cx="91440" cy="13716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26280" y="386791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Evaluator/Verifier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Avalia contexto e fundamentação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91856" y="3703320"/>
            <a:ext cx="9144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47888" y="3867912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Tool Registry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Executa ações com preview →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Visão geral da 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Frontend → API NestJS → Orquestrador → RAG primitives / Postgres → Resposta.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874519" cy="10058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F172A"/>
                </a:solidFill>
                <a:latin typeface="Segoe UI"/>
              </a:rPr>
              <a:t>Frontend</a:t>
            </a:r>
          </a:p>
          <a:p>
            <a:pPr algn="ctr"/>
            <a:r>
              <a:rPr sz="950">
                <a:solidFill>
                  <a:srgbClr val="0F172A"/>
                </a:solidFill>
                <a:latin typeface="Segoe UI"/>
              </a:rPr>
              <a:t>Next.js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31720"/>
            <a:ext cx="1874519" cy="10058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API Backend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NestJS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331720"/>
            <a:ext cx="2240280" cy="1005840"/>
          </a:xfrm>
          <a:prstGeom prst="roundRect">
            <a:avLst/>
          </a:prstGeom>
          <a:solidFill>
            <a:srgbClr val="0B524B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Orquestrador
de Agentes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máquina de estados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2834640"/>
            <a:ext cx="274320" cy="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72000" y="2834640"/>
            <a:ext cx="274320" cy="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18120" y="1874519"/>
            <a:ext cx="379476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F172A"/>
                </a:solidFill>
                <a:latin typeface="Segoe UI"/>
              </a:rPr>
              <a:t>RAG service</a:t>
            </a:r>
          </a:p>
          <a:p>
            <a:pPr algn="ctr"/>
            <a:r>
              <a:rPr sz="950">
                <a:solidFill>
                  <a:srgbClr val="0F172A"/>
                </a:solidFill>
                <a:latin typeface="Segoe UI"/>
              </a:rPr>
              <a:t>/retrieve /generate /evaluate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1874519"/>
            <a:ext cx="82296" cy="713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086600" y="2231135.0"/>
            <a:ext cx="731520" cy="603505.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818120" y="2770631"/>
            <a:ext cx="379476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F172A"/>
                </a:solidFill>
                <a:latin typeface="Segoe UI"/>
              </a:rPr>
              <a:t>ChromaDB</a:t>
            </a:r>
          </a:p>
          <a:p>
            <a:pPr algn="ctr"/>
            <a:r>
              <a:rPr sz="950">
                <a:solidFill>
                  <a:srgbClr val="0F172A"/>
                </a:solidFill>
                <a:latin typeface="Segoe UI"/>
              </a:rPr>
              <a:t>chunks vetoriais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2770631"/>
            <a:ext cx="82296" cy="71323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086600" y="2834640"/>
            <a:ext cx="731520" cy="292607.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818120" y="3666743"/>
            <a:ext cx="379476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F172A"/>
                </a:solidFill>
                <a:latin typeface="Segoe UI"/>
              </a:rPr>
              <a:t>PostgreSQL</a:t>
            </a:r>
          </a:p>
          <a:p>
            <a:pPr algn="ctr"/>
            <a:r>
              <a:rPr sz="950">
                <a:solidFill>
                  <a:srgbClr val="0F172A"/>
                </a:solidFill>
                <a:latin typeface="Segoe UI"/>
              </a:rPr>
              <a:t>dados + traces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3666743"/>
            <a:ext cx="82296" cy="713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086600" y="2834640"/>
            <a:ext cx="731520" cy="1188719.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18120" y="4562855"/>
            <a:ext cx="379476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F172A"/>
                </a:solidFill>
                <a:latin typeface="Segoe UI"/>
              </a:rPr>
              <a:t>Ollama</a:t>
            </a:r>
          </a:p>
          <a:p>
            <a:pPr algn="ctr"/>
            <a:r>
              <a:rPr sz="950">
                <a:solidFill>
                  <a:srgbClr val="0F172A"/>
                </a:solidFill>
                <a:latin typeface="Segoe UI"/>
              </a:rPr>
              <a:t>LLM + embeddings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4562855"/>
            <a:ext cx="82296" cy="71323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086600" y="2834640"/>
            <a:ext cx="731520" cy="2084831.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846320" y="4617720"/>
            <a:ext cx="2240280" cy="82296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Resposta ao usuário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com fontes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61888" y="3337560"/>
            <a:ext cx="0" cy="1280160"/>
          </a:xfrm>
          <a:prstGeom prst="line">
            <a:avLst/>
          </a:prstGeom>
          <a:ln w="25400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766E"/>
                </a:solidFill>
                <a:latin typeface="Segoe UI"/>
              </a:rPr>
              <a:t>Stack do MVP:  </a:t>
            </a:r>
            <a:r>
              <a:rPr sz="1250" b="0" i="0">
                <a:solidFill>
                  <a:srgbClr val="475569"/>
                </a:solidFill>
                <a:latin typeface="Segoe UI"/>
              </a:rPr>
              <a:t>Next.js 16  ·  NestJS/Fastify  ·  PostgreSQL/Drizzle  ·  ChromaDB  ·  Fastify RAG service  ·  Ollama local  ·  phi3:mini  ·  nomic-embed-text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Fluxo de ingestão dos documentos e anamneses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Como prontuários e anotações viram conhecimento pesquisável.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5731" y="2606040"/>
            <a:ext cx="1627632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>
                <a:latin typeface="Segoe UI"/>
              </a:rPr>
              <a:t>📄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Segoe UI"/>
              </a:rPr>
              <a:t>Upload ou
snapshot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5731" y="2606040"/>
            <a:ext cx="1627632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223363.5" y="3200400.0"/>
            <a:ext cx="24688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70251" y="2606040"/>
            <a:ext cx="1627632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>
                <a:latin typeface="Segoe UI"/>
              </a:rPr>
              <a:t>🔐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Segoe UI"/>
              </a:rPr>
              <a:t>API valida
escopo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0251" y="2606040"/>
            <a:ext cx="1627632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097883.5" y="3200400.0"/>
            <a:ext cx="24688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44771" y="2606040"/>
            <a:ext cx="1627632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>
                <a:latin typeface="Segoe UI"/>
              </a:rPr>
              <a:t>🔧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Segoe UI"/>
              </a:rPr>
              <a:t>Parser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4771" y="2606040"/>
            <a:ext cx="1627632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972403.5" y="3200400.0"/>
            <a:ext cx="24688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19291" y="2606040"/>
            <a:ext cx="1627632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>
                <a:latin typeface="Segoe UI"/>
              </a:rPr>
              <a:t>✂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Segoe UI"/>
              </a:rPr>
              <a:t>Chunking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9291" y="2606040"/>
            <a:ext cx="1627632" cy="1097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846923.5" y="3200400.0"/>
            <a:ext cx="24688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093811" y="2606040"/>
            <a:ext cx="1627632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>
                <a:latin typeface="Segoe UI"/>
              </a:rPr>
              <a:t>🔢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Segoe UI"/>
              </a:rPr>
              <a:t>Embeddings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3811" y="2606040"/>
            <a:ext cx="1627632" cy="109728"/>
          </a:xfrm>
          <a:prstGeom prst="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721443.5" y="3200400.0"/>
            <a:ext cx="24688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968331" y="2606040"/>
            <a:ext cx="1627632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>
                <a:latin typeface="Segoe UI"/>
              </a:rPr>
              <a:t>🗃</a:t>
            </a:r>
          </a:p>
          <a:p>
            <a:pPr algn="ctr"/>
            <a:r>
              <a:rPr sz="1250" b="1">
                <a:solidFill>
                  <a:srgbClr val="0F172A"/>
                </a:solidFill>
                <a:latin typeface="Segoe UI"/>
              </a:rPr>
              <a:t>ChromaDB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8331" y="2606040"/>
            <a:ext cx="1627632" cy="1097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08960" y="4297680"/>
            <a:ext cx="5943600" cy="914400"/>
          </a:xfrm>
          <a:prstGeom prst="roundRect">
            <a:avLst/>
          </a:prstGeom>
          <a:solidFill>
            <a:srgbClr val="ECFE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350" b="1">
                <a:solidFill>
                  <a:srgbClr val="0B524B"/>
                </a:solidFill>
                <a:latin typeface="Segoe UI"/>
              </a:rPr>
              <a:t>🗄  Metadados no PostgreSQL</a:t>
            </a:r>
          </a:p>
          <a:p>
            <a:r>
              <a:rPr sz="1200">
                <a:solidFill>
                  <a:srgbClr val="475569"/>
                </a:solidFill>
                <a:latin typeface="Segoe UI"/>
              </a:rPr>
              <a:t>patient_documents, anamneses, document_versions e status de ingestão preservam a fonte autoritativa.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035040" y="3794760"/>
            <a:ext cx="9859189638960" cy="50292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EXEMPLO PRÁTICO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Fluxo de uma pergunta no chat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7315200" cy="64008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1500" i="1">
                <a:solidFill>
                  <a:srgbClr val="FFFFFF"/>
                </a:solidFill>
                <a:latin typeface="Segoe UI"/>
              </a:rPr>
              <a:t>“Qual foi a última queixa de dor do paciente João?”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731520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82296" cy="713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2642616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FFFFFF"/>
                </a:solidFill>
                <a:latin typeface="Segoe UI"/>
              </a:rPr>
              <a:t>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587752"/>
            <a:ext cx="2377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Sessão validada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587752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JWT + X-Clinic-Id + patientId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475569"/>
                </a:solidFill>
                <a:latin typeface="Segoe UI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78408" y="3227832"/>
            <a:ext cx="0" cy="109728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3337560"/>
            <a:ext cx="731520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82296" cy="713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3465576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FFFFFF"/>
                </a:solidFill>
                <a:latin typeface="Segoe UI"/>
              </a:rPr>
              <a:t>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410712"/>
            <a:ext cx="2377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IntentRouter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410712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classifica knowledge_base_search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37560"/>
            <a:ext cx="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475569"/>
                </a:solidFill>
                <a:latin typeface="Segoe UI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8408" y="4050792"/>
            <a:ext cx="0" cy="109728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4160520"/>
            <a:ext cx="731520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60520"/>
            <a:ext cx="82296" cy="713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288536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FFFFFF"/>
                </a:solidFill>
                <a:latin typeface="Segoe UI"/>
              </a:rPr>
              <a:t>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233672"/>
            <a:ext cx="2377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Planner/Rewriter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233672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gera consultas normalizadas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160520"/>
            <a:ext cx="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475569"/>
                </a:solidFill>
                <a:latin typeface="Segoe UI"/>
              </a:rPr>
              <a:t/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78408" y="4873752"/>
            <a:ext cx="0" cy="109728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48640" y="4983480"/>
            <a:ext cx="731520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983480"/>
            <a:ext cx="82296" cy="713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9808" y="5111496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FFFFFF"/>
                </a:solidFill>
                <a:latin typeface="Segoe UI"/>
              </a:rPr>
              <a:t>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056632"/>
            <a:ext cx="2377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RetrieverTool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056632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ChromaDB + Postgres fallback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983480"/>
            <a:ext cx="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475569"/>
                </a:solidFill>
                <a:latin typeface="Segoe UI"/>
              </a:rPr>
              <a:t/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78408" y="5696712"/>
            <a:ext cx="0" cy="109728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48640" y="5806440"/>
            <a:ext cx="731520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806440"/>
            <a:ext cx="82296" cy="713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9808" y="5934456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FFFFFF"/>
                </a:solidFill>
                <a:latin typeface="Segoe UI"/>
              </a:rPr>
              <a:t>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879592"/>
            <a:ext cx="23774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Segoe UI"/>
              </a:rPr>
              <a:t>Evaluate/Verify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5879592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contexto suficiente + groundedness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806440"/>
            <a:ext cx="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475569"/>
                </a:solidFill>
                <a:latin typeface="Segoe UI"/>
              </a:rPr>
              <a:t/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0" y="2514600"/>
            <a:ext cx="3383280" cy="36576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28600" tIns="22860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✅ Resposta fundamentada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Segoe UI"/>
              </a:rPr>
              <a:t>“A última queixa de dor de João foi em 12/03, dor no molar inferior direito, registrada na anamnese.”</a:t>
            </a:r>
          </a:p>
          <a:p>
            <a:pPr>
              <a:spcBef>
                <a:spcPts val="1200"/>
              </a:spcBef>
            </a:pPr>
            <a:r>
              <a:rPr sz="1100" i="1">
                <a:solidFill>
                  <a:srgbClr val="ECFEFF"/>
                </a:solidFill>
                <a:latin typeface="Segoe UI"/>
              </a:rPr>
              <a:t>Fontes + métricas + agentRunId para inspecionar o trace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COMPONENTES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Os agentes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Cada agente tem uma responsabilidade única e bem definida.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11064240" cy="3822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Agente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Responsabilidade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Segoe UI"/>
                        </a:rPr>
                        <a:t>🧭  AgentOrchestrator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475569"/>
                          </a:solidFill>
                          <a:latin typeface="Segoe UI"/>
                        </a:rPr>
                        <a:t>Coordena a máquina de estados, orçamento e fallbacks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Segoe UI"/>
                        </a:rPr>
                        <a:t>🧠  IntentRouter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475569"/>
                          </a:solidFill>
                          <a:latin typeface="Segoe UI"/>
                        </a:rPr>
                        <a:t>Classifica direct_answer, RAG, multi-step, action_request ou unsupported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Segoe UI"/>
                        </a:rPr>
                        <a:t>🧩  QueryPlanner/Rewriter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475569"/>
                          </a:solidFill>
                          <a:latin typeface="Segoe UI"/>
                        </a:rPr>
                        <a:t>Decompõe a pergunta e gera consultas normalizadas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Segoe UI"/>
                        </a:rPr>
                        <a:t>🔎  RetrieverTool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475569"/>
                          </a:solidFill>
                          <a:latin typeface="Segoe UI"/>
                        </a:rPr>
                        <a:t>Consulta /v1/retrieve e pode usar Postgres como fallback/suplemento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Segoe UI"/>
                        </a:rPr>
                        <a:t>✔  ContextEvaluator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475569"/>
                          </a:solidFill>
                          <a:latin typeface="Segoe UI"/>
                        </a:rPr>
                        <a:t>Decide suficiência e sugere retry no loop CRAG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Segoe UI"/>
                        </a:rPr>
                        <a:t>✍  AnswerGenerator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475569"/>
                          </a:solidFill>
                          <a:latin typeface="Segoe UI"/>
                        </a:rPr>
                        <a:t>Gera resposta streamada com contexto recuperado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Segoe UI"/>
                        </a:rPr>
                        <a:t>🛡  AnswerVerifier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475569"/>
                          </a:solidFill>
                          <a:latin typeface="Segoe UI"/>
                        </a:rPr>
                        <a:t>Verifica groundedness e pode fazer downgrade seguro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Segoe UI"/>
                        </a:rPr>
                        <a:t>🗄  AgentTracing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475569"/>
                          </a:solidFill>
                          <a:latin typeface="Segoe UI"/>
                        </a:rPr>
                        <a:t>Persiste runs, steps, chunks, tools e avaliações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ENGENHARIA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Como o agente foi elaborado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Módulo NestJS (src/agent) onde cada agente é um service injetável, coordenado por uma máquina de estados.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4242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3566160"/>
                <a:gridCol w="48463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Módulo (src/agent)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Service (agente)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Papel técnico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orchestrator/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AgentOrchestrator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Máquina de estados / loop de controle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router/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IntentRouterService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Classifica a intenção em 6 classes + confiança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planner/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QueryRewriter · QueryPlanner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Normaliza, expande e decompõe a pergunta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tools/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ToolRegistry · RetrieverTool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RAG, Postgres fallback e ações tipadas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evaluators/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ContextEvaluatorService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Decide se o contexto recuperado é suficiente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generators/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AnswerGeneratorService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Geração streamada (SSE) com citações inline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verifiers/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AnswerVerifierService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Checa fundamentação (groundedness) das claims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tracing/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AgentTracingService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Registra runs, steps, chunks, tools e evaluations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40" b="1">
                          <a:solidFill>
                            <a:srgbClr val="0F172A"/>
                          </a:solidFill>
                          <a:latin typeface="Segoe UI"/>
                        </a:rPr>
                        <a:t>memory/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MemoryService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40" b="0">
                          <a:solidFill>
                            <a:srgbClr val="475569"/>
                          </a:solidFill>
                          <a:latin typeface="Segoe UI"/>
                        </a:rPr>
                        <a:t>Resumo da sessão para contexto futuro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766E"/>
                </a:solidFill>
                <a:latin typeface="Segoe UI"/>
              </a:rPr>
              <a:t>Princípio: </a:t>
            </a:r>
            <a:r>
              <a:rPr sz="1250" b="0" i="0">
                <a:solidFill>
                  <a:srgbClr val="475569"/>
                </a:solidFill>
                <a:latin typeface="Segoe UI"/>
              </a:rPr>
              <a:t>responsabilidade única por agente + injeção de dependência + feature flags para ligar/desligar cada capacidade de forma incremental.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CONTROLE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O loop de orquestração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Máquina de estados determinística com correção iterativa e orçamento (budget).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703" y="2971800"/>
            <a:ext cx="14630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latin typeface="Segoe UI"/>
              </a:rPr>
              <a:t>🧼</a:t>
            </a:r>
          </a:p>
          <a:p>
            <a:pPr algn="ctr"/>
            <a:r>
              <a:rPr sz="1150" b="1">
                <a:solidFill>
                  <a:srgbClr val="0F172A"/>
                </a:solidFill>
                <a:latin typeface="Segoe UI"/>
              </a:rPr>
              <a:t>Sanitizar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71703" y="2971800"/>
            <a:ext cx="1463040" cy="10058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834743.5" y="3497580.0"/>
            <a:ext cx="20116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35911" y="2971800"/>
            <a:ext cx="14630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latin typeface="Segoe UI"/>
              </a:rPr>
              <a:t>🧭</a:t>
            </a:r>
          </a:p>
          <a:p>
            <a:pPr algn="ctr"/>
            <a:r>
              <a:rPr sz="1150" b="1">
                <a:solidFill>
                  <a:srgbClr val="0F172A"/>
                </a:solidFill>
                <a:latin typeface="Segoe UI"/>
              </a:rPr>
              <a:t>Rotear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5911" y="2971800"/>
            <a:ext cx="1463040" cy="10058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98951.5" y="3497580.0"/>
            <a:ext cx="20116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00119" y="2971800"/>
            <a:ext cx="14630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latin typeface="Segoe UI"/>
              </a:rPr>
              <a:t>🔎</a:t>
            </a:r>
          </a:p>
          <a:p>
            <a:pPr algn="ctr"/>
            <a:r>
              <a:rPr sz="1150" b="1">
                <a:solidFill>
                  <a:srgbClr val="0F172A"/>
                </a:solidFill>
                <a:latin typeface="Segoe UI"/>
              </a:rPr>
              <a:t>Recuperar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0119" y="2971800"/>
            <a:ext cx="1463040" cy="10058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163159.5" y="3497580.0"/>
            <a:ext cx="20116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364327" y="2971800"/>
            <a:ext cx="14630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latin typeface="Segoe UI"/>
              </a:rPr>
              <a:t>✔</a:t>
            </a:r>
          </a:p>
          <a:p>
            <a:pPr algn="ctr"/>
            <a:r>
              <a:rPr sz="1150" b="1">
                <a:solidFill>
                  <a:srgbClr val="0F172A"/>
                </a:solidFill>
                <a:latin typeface="Segoe UI"/>
              </a:rPr>
              <a:t>Avaliar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4327" y="2971800"/>
            <a:ext cx="1463040" cy="10058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827367.5" y="3497580.0"/>
            <a:ext cx="20116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28535" y="2971800"/>
            <a:ext cx="14630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latin typeface="Segoe UI"/>
              </a:rPr>
              <a:t>🧠</a:t>
            </a:r>
          </a:p>
          <a:p>
            <a:pPr algn="ctr"/>
            <a:r>
              <a:rPr sz="1150" b="1">
                <a:solidFill>
                  <a:srgbClr val="0F172A"/>
                </a:solidFill>
                <a:latin typeface="Segoe UI"/>
              </a:rPr>
              <a:t>Gerar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8535" y="2971800"/>
            <a:ext cx="1463040" cy="100584"/>
          </a:xfrm>
          <a:prstGeom prst="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8491575.5" y="3497580.0"/>
            <a:ext cx="20116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92743" y="2971800"/>
            <a:ext cx="14630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latin typeface="Segoe UI"/>
              </a:rPr>
              <a:t>🛡</a:t>
            </a:r>
          </a:p>
          <a:p>
            <a:pPr algn="ctr"/>
            <a:r>
              <a:rPr sz="1150" b="1">
                <a:solidFill>
                  <a:srgbClr val="0F172A"/>
                </a:solidFill>
                <a:latin typeface="Segoe UI"/>
              </a:rPr>
              <a:t>Verificar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92743" y="2971800"/>
            <a:ext cx="1463040" cy="100584"/>
          </a:xfrm>
          <a:prstGeom prst="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0155783.5" y="3497580.0"/>
            <a:ext cx="201168.0" cy="0.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356951" y="2971800"/>
            <a:ext cx="14630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latin typeface="Segoe UI"/>
              </a:rPr>
              <a:t>🗄</a:t>
            </a:r>
          </a:p>
          <a:p>
            <a:pPr algn="ctr"/>
            <a:r>
              <a:rPr sz="1150" b="1">
                <a:solidFill>
                  <a:srgbClr val="0F172A"/>
                </a:solidFill>
                <a:latin typeface="Segoe UI"/>
              </a:rPr>
              <a:t>Persistir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56951" y="2971800"/>
            <a:ext cx="1463040" cy="10058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6095847.5" y="2468880"/>
            <a:ext cx="0.0" cy="502920"/>
          </a:xfrm>
          <a:prstGeom prst="line">
            <a:avLst/>
          </a:prstGeom>
          <a:ln w="20320">
            <a:solidFill>
              <a:srgbClr val="D9770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4431639.5" y="2468880"/>
            <a:ext cx="1664208.0" cy="0"/>
          </a:xfrm>
          <a:prstGeom prst="line">
            <a:avLst/>
          </a:prstGeom>
          <a:ln w="20320">
            <a:solidFill>
              <a:srgbClr val="D9770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431639.5" y="2468880"/>
            <a:ext cx="0.0" cy="50292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42919" y="208483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97706"/>
                </a:solidFill>
                <a:latin typeface="Segoe UI"/>
              </a:rPr>
              <a:t>contexto insuficiente → reescreve a query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80160" y="4617720"/>
            <a:ext cx="9601200" cy="1417320"/>
          </a:xfrm>
          <a:prstGeom prst="roundRect">
            <a:avLst/>
          </a:prstGeom>
          <a:solidFill>
            <a:srgbClr val="ECFE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>
                <a:solidFill>
                  <a:srgbClr val="0B524B"/>
                </a:solidFill>
                <a:latin typeface="Segoe UI"/>
              </a:rPr>
              <a:t>⏱  Orçamento por execução (budget)</a:t>
            </a:r>
          </a:p>
          <a:p>
            <a:pPr>
              <a:spcBef>
                <a:spcPts val="600"/>
              </a:spcBef>
            </a:pPr>
            <a:r>
              <a:rPr sz="1250">
                <a:solidFill>
                  <a:srgbClr val="475569"/>
                </a:solidFill>
                <a:latin typeface="Segoe UI"/>
              </a:rPr>
              <a:t>maxLlmCalls (3)  ·  maxRetrievalAttempts  ·  maxWallClockMs (15 s) — limitam custo e latência; ao estourar, o loop é cortado e o sistema cai em um fallback seguro de “evidência insuficiente”.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CONFIABILIDADE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Fundamentação, validação e segurança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Os mecanismos técnicos que tornam a resposta confiável e o sistema seguro.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35204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91440" cy="1554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26771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163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ContextEvaluator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18211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Retorna { sufficient, missing[], suggestedQuery } e dispara o loop corretivo.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103120"/>
            <a:ext cx="35204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03120"/>
            <a:ext cx="91440" cy="1554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2267712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163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AnswerVerifier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18211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Groundedness + citações; pode fazer downgrade para evidência insuficiente.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2103120"/>
            <a:ext cx="35204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6" y="2103120"/>
            <a:ext cx="91440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47888" y="2267712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8163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RAG-Triad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18211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Context relevance · groundedness · answer relevance persistidos no chat.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58768"/>
            <a:ext cx="35204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858768"/>
            <a:ext cx="91440" cy="1554480"/>
          </a:xfrm>
          <a:prstGeom prst="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" y="4023360"/>
            <a:ext cx="457200" cy="457200"/>
          </a:xfrm>
          <a:prstGeom prst="round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57200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Trust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9377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JWT → ClinicScope → PatientScope: isolamento por clínica e paciente.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3858768"/>
            <a:ext cx="35204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8" y="3858768"/>
            <a:ext cx="91440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26280" y="4023360"/>
            <a:ext cx="457200" cy="45720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57200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Agent traces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9377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agent_runs, steps, chunks, tools e evaluations auditáveis no UI.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858768"/>
            <a:ext cx="35204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91856" y="3858768"/>
            <a:ext cx="91440" cy="1554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47888" y="4023360"/>
            <a:ext cx="457200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57200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Preview →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9377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Toda ferramenta mutável exige confirmação humana explícita.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Como o agente faz a diferença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Cada mecanismo resolve uma limitação concreta do RAG linear.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64240" cy="4407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657600"/>
                <a:gridCol w="42976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Mecanismo do agente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Limitação do RAG linear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Efeito técnico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Loop recuperar ↔ avaliar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Recuperação única, sem 2ª chance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Recall maior; contexto corrigido em runtime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IntentRouter + Planner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Não decompõe perguntas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Perguntas multi-etapa são atendidas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RetrieverTool híbrido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Só busca no vetor store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ChromaDB + Postgres fallback/suplemento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ToolRegistry tipado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Não usa ferramentas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Agendamentos via preview → commit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Verifier + citações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Não valida a resposta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Menos alucinação; resposta rastreável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Registro RAG no UI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Caixa-preta, difícil estudar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Passo a passo auditável por execução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766E"/>
                </a:solidFill>
                <a:latin typeface="Segoe UI"/>
              </a:rPr>
              <a:t>Em uma frase: </a:t>
            </a:r>
            <a:r>
              <a:rPr sz="1250" b="0" i="0">
                <a:solidFill>
                  <a:srgbClr val="475569"/>
                </a:solidFill>
                <a:latin typeface="Segoe UI"/>
              </a:rPr>
              <a:t>o agente troca um pipeline fixo por um controlador que planeja, recupera, valida e prova — com custo limitado e rastreável.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DECISÕES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Escolhas técnicas: prós e contras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Comparações que guiaram a stack do MVP acadêmico.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Decisão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Opção A — vantagem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Segoe UI"/>
                        </a:rPr>
                        <a:t>Opção B — trade-off</a:t>
                      </a:r>
                    </a:p>
                  </a:txBody>
                  <a:tcPr anchor="ctr" marL="109728" marR="73152" marT="36576" marB="36576">
                    <a:solidFill>
                      <a:srgbClr val="0F766E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Banco vetorial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ChromaDB: simples, metadata filter, separado do domínio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pgvector: menos serviços, acopla vetores ao Postgres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LLM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Ollama local: privacidade e custo zero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OpenAI/Claude: mais qualidade, dependência externa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Backend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NestJS: produtivo, ecossistema TS/Node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Go: performance, menos boilerplate ORM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Segoe UI"/>
                        </a:rPr>
                        <a:t>Abordagem</a:t>
                      </a:r>
                    </a:p>
                  </a:txBody>
                  <a:tcPr anchor="ctr" marL="109728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RAG legado: rápido e simples</a:t>
                      </a:r>
                    </a:p>
                  </a:txBody>
                  <a:tcPr anchor="ctr" marL="109728" marR="73152" marT="27432" marB="27432">
                    <a:solidFill>
                      <a:srgbClr val="E9F9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75569"/>
                          </a:solidFill>
                          <a:latin typeface="Segoe UI"/>
                        </a:rPr>
                        <a:t>Agentic RAG: auditável, robusto, mais complexo</a:t>
                      </a:r>
                    </a:p>
                  </a:txBody>
                  <a:tcPr anchor="ctr" marL="109728" marR="73152" marT="27432" marB="27432">
                    <a:solidFill>
                      <a:srgbClr val="FEF3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766E"/>
                </a:solidFill>
                <a:latin typeface="Segoe UI"/>
              </a:rPr>
              <a:t>No estado atual: </a:t>
            </a:r>
            <a:r>
              <a:rPr sz="1250" b="0" i="0">
                <a:solidFill>
                  <a:srgbClr val="475569"/>
                </a:solidFill>
                <a:latin typeface="Segoe UI"/>
              </a:rPr>
              <a:t>ChromaDB é índice derivado; Postgres é fonte autoritativa; Ollama mantém execução local; Agentic RAG roda atrás de flags e budgets.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BENEFÍCIOS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Vantagens do Agentic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Por que vale a pena a complexidade adicional.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91440" cy="1371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313432"/>
            <a:ext cx="45720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Melhor recuperação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Busca iterativa e corretiva do contexto.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48840"/>
            <a:ext cx="91440" cy="1371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2313432"/>
            <a:ext cx="45720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Múltiplas etapas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Decompõe perguntas complexas em passos.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6" y="2148840"/>
            <a:ext cx="91440" cy="1371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47888" y="2313432"/>
            <a:ext cx="45720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Menos alucinação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Validação de evidência antes de responder.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03320"/>
            <a:ext cx="91440" cy="1371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" y="3867912"/>
            <a:ext cx="45720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Ferramentas dinâmicas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Executa ações de agenda com confirmação humana.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8" y="3703320"/>
            <a:ext cx="91440" cy="1371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26280" y="3867912"/>
            <a:ext cx="45720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Explicabilidade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Mostra steps, métricas, chunks e fontes.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91856" y="3703320"/>
            <a:ext cx="91440" cy="1371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47888" y="3867912"/>
            <a:ext cx="45720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Tarefas complexas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Adequado a fluxos de trabalho reais da clínica.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RISCOS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Desvantagens e riscos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Trade-offs que precisam ser gerenciados conscientemente.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313432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Maior complexidade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Mais componentes para construir e manter.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4884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2313432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Mais custo de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Múltiplas chamadas ao LLM por pergunta.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214884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6" y="214884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47888" y="2313432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86207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Maior latência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22783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Etapas extras aumentam o tempo de resposta.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03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" y="3867912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PII em traces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Payloads brutos exigem política de redação em produção.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8" y="3703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26280" y="3867912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Controle de permissões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Isolar dados por paciente é obrigatório.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703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91856" y="3703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47888" y="3867912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41655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Ações indevidas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78231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Risco de agentes agirem sem confirmação.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Segoe UI"/>
              </a:rPr>
              <a:t>DELIMITAÇÃO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60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Segoe UI"/>
              </a:rPr>
              <a:t>Escopo do MVP acadêmico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Segoe UI"/>
              </a:rPr>
              <a:t>O que entra e o que fica de fora, conscientemente.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54406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5440680" cy="5669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✅  Incluído no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Cadastro de pacientes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Anamnese e documentos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Chat com Agentic RAG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Busca ChromaDB + Postgres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Ferramentas de agenda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Registro RAG inspecionável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103120"/>
            <a:ext cx="54406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103120"/>
            <a:ext cx="5440680" cy="5669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2128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🚫  Fora do MVP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88036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Integração real com sistemas hospitalares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Diagnóstico médico automatizado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Ações automáticas sem confirmação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Treinamento próprio de LLM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●  </a:t>
            </a:r>
            <a:r>
              <a:rPr sz="1450" b="0">
                <a:solidFill>
                  <a:srgbClr val="475569"/>
                </a:solidFill>
                <a:latin typeface="Segoe UI"/>
              </a:rPr>
              <a:t>Política completa de LGPD/produção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190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CRM Dental · Agentic RAG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200000">
            <a:off x="-1371600" y="4114800"/>
            <a:ext cx="6400800" cy="6400800"/>
          </a:xfrm>
          <a:prstGeom prst="round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200000">
            <a:off x="8686800" y="-1828800"/>
            <a:ext cx="5486400" cy="54864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97280"/>
            <a:ext cx="548640" cy="11887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6B6D4"/>
                </a:solidFill>
                <a:latin typeface="Segoe UI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O Agentic RAG torna o CRM Dental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mais inteligente: o sistema não apenas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6B6D4"/>
                </a:solidFill>
                <a:latin typeface="Segoe UI"/>
              </a:rPr>
              <a:t>busca</a:t>
            </a:r>
            <a:r>
              <a:rPr sz="3200" b="1" i="0">
                <a:solidFill>
                  <a:srgbClr val="FFFFFF"/>
                </a:solidFill>
                <a:latin typeface="Segoe UI"/>
              </a:rPr>
              <a:t> — ele </a:t>
            </a:r>
            <a:r>
              <a:rPr sz="3200" b="1" i="0">
                <a:solidFill>
                  <a:srgbClr val="06B6D4"/>
                </a:solidFill>
                <a:latin typeface="Segoe UI"/>
              </a:rPr>
              <a:t>planeja, valida, usa ferramentas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e deixa sua execução auditável.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74920"/>
            <a:ext cx="2606040" cy="7772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Planeja a tarefa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5074920"/>
            <a:ext cx="2606040" cy="7772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F172A"/>
                </a:solidFill>
                <a:latin typeface="Segoe UI"/>
              </a:rPr>
              <a:t>Valida evidência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5074920"/>
            <a:ext cx="2606040" cy="7772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Usa ferramentas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5074920"/>
            <a:ext cx="2606040" cy="7772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>
            <a:outerShdw blurRad="90000" dist="40000" dir="5400000" rotWithShape="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F172A"/>
                </a:solidFill>
                <a:latin typeface="Segoe UI"/>
              </a:rPr>
              <a:t>Registra o trace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500000">
            <a:off x="8229600" y="3200400"/>
            <a:ext cx="6400800" cy="6400800"/>
          </a:xfrm>
          <a:prstGeom prst="roundRect">
            <a:avLst/>
          </a:prstGeom>
          <a:solidFill>
            <a:srgbClr val="0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500000">
            <a:off x="9601200" y="0"/>
            <a:ext cx="2194560" cy="21945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468880"/>
            <a:ext cx="121916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Segoe UI"/>
              </a:rPr>
              <a:t>Perguntas?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06B6D4"/>
                </a:solidFill>
                <a:latin typeface="Segoe UI"/>
              </a:rPr>
              <a:t>Obrigado pela atenção.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CRM Dental com Chat Inteligente usando Agentic RAG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