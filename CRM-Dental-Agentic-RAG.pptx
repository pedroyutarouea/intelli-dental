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658CA31-DBBA-4877-A460-C26F6926EF6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2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Boa tarde. Vou apresentar um MVP acadêmico de um CRM para clínicas odontológicas que incorpora um chat inteligente. O diferencial é a evolução de um RAG tradicional (busca + LLM) para um Agentic RAG, onde múltiplos agentes especializados cooperam para planejar, recuperar, validar e responder. Nos próximos slides explico o problema, a proposta, a arquitetura, as escolhas técnicas com prós e contras, e o escopo do MVP.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A2A28A7-AFA0-4838-A6A8-F3890A4AF91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2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ponto de partida é prático. Em clínicas odontológicas, o histórico do paciente está fragmentado entre fichas de papel, PDFs e anotações livres. Isso torna a busca por informações lenta — por exemplo, lembrar qual foi a última queixa de dor. Além disso, agendamentos e acompanhamentos são manuais e os dados clínicos acumulados quase nunca são usados de forma inteligente. O objetivo do projeto é atacar exatamente essas quatro dores.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A847C11-A791-4D4D-96A9-E8948C73EDC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2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proposta é um CRM Dental enxuto, mas completo no essencial: cadastro de pacientes, histórico clínico, agendamentos e upload de documentos. O diferencial é o chat inteligente, que permite consultar todas essas informações em linguagem natural e devolve respostas com as fontes. É esse chat que evoluímos para Agentic RAG.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3D62331-5473-46E4-918B-6DEBD917213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3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Antes de falar de agentes, é importante entender o RAG tradicional. O fluxo é linear: a pergunta do usuário é convertida em um vetor numérico (embedding); fazemos uma busca por similaridade num banco vetorial para recuperar os trechos mais relevantes; esse contexto é inserido no prompt; e o LLM gera a resposta. É simples e eficaz, mas tem limitações importantes — que vejo no próximo slide.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6571AEF-08EE-4839-ACC2-7C842B4035A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3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RAG tradicional recupera contexto uma única vez: se a busca falhar, não há segunda tentativa. Ele pode trazer documentos pouco relevantes, não planeja a tarefa, não escolhe ferramentas (como consultar o banco relacional ou uma API de calendário) e tem dificuldade com perguntas que exigem várias etapas. Por fim, não valida se a resposta está realmente fundamentada nas fontes. Essas limitações motivam a evolução para Agentic RAG.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5C26842-D003-4F3B-BD86-02BA2EB9CDA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Na evolução para Agentic RAG, o chat deixa de ser um pipeline fixo e passa a contar com agentes especializados. O Orquestrador decide os próximos passos; o agente de Recuperação busca documentos; o agente de Banco de Dados consulta dados estruturados; o Avaliador valida a relevância do que foi recuperado; o Sintetizador gera a resposta; e o agente de Ferramentas executa ações como consultar o calendário. Cada um faz uma coisa bem feita.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53C8146-59A3-4909-A502-C8A44B0EDE2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3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Esta é a visão geral. O Frontend em Next.js conversa com a API backend em NestJS, que funciona como fronteira de segurança. A API chama o Orquestrador de Agentes, implementado como uma máquina de estados determinística. O orquestrador acessa as fontes de dados: banco vetorial (pgvector ou Qdrant), PostgreSQL para dados estruturados, storage de documentos e a API de calendário. A resposta volta ao usuário sempre acompanhada das fontes. A stack pode usar LLM local via Ollama ou serviços como OpenAI/Claude.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298D638-5533-45AD-9BD4-A92B07DC57A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fluxo de ingestão prepara os dados para a busca. Documentos como PDFs e anotações passam por um parser que extrai o texto; em seguida vem a limpeza; o chunking divide o texto em pedaços; cada pedaço é convertido em embeddings; e tudo é armazenado no banco vetorial. Em paralelo, gravamos metadados no PostgreSQL — identificador do paciente, tipo de documento, versão e referência do chunk — o que garante o isolamento por paciente e a rastreabilidade das fontes.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0295CB4-4BA5-4609-82CC-436CA9FF4BF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Vamos a um exemplo concreto: alguém pergunta qual foi a última queixa de dor do paciente João. O Orquestrador recebe e roteia a intenção. Primeiro identifica de qual paciente estamos falando. Depois busca no banco — tanto dados estruturados quanto as notas clínicas. O Avaliador verifica se o contexto recuperado é suficiente; se não for, há nova tentativa. Por fim, o sistema gera a resposta citando as fontes. Note que toda resposta vem com a origem da informação, o que aumenta a confiança e a explicabilidade.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8ADBA00-5E32-4F9F-930B-C2B39CE8512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Resumindo os papéis: o Orquestrador decide os próximos passos e coordena tudo. O Retriever Agent busca documentos no banco vetorial. O SQL Agent consulta dados estruturados no PostgreSQL. O Evaluator Agent valida se o contexto recuperado é relevante. O Tool Agent executa ações externas, como consultar o calendário. E o Answer Agent gera a resposta final com as fontes. Essa separação de responsabilidades é o que dá modularidade e controle ao sistema.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0A5F9F2-BEC6-4607-9D5B-C2481CDBC5A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Tecnicamente, o agente não é um único bloco monolítico: é um módulo NestJS em src/agent onde cada responsabilidade vira um service injetável. O AgentOrchestrator é a máquina de estados que coordena tudo. O IntentRouter classifica a intenção; o planner reescreve e decompõe a pergunta; o ToolRegistry expõe ferramentas tipadas e permissionadas; o ContextEvaluator decide se o contexto basta; o AnswerGenerator gera a resposta com citações; o AnswerVerifier valida a fundamentação; e o Sanitizer protege contra prompt injection. A injeção de dependência e as feature flags permitem ligar cada capacidade de forma incremental, sem reescrever o orquestrador.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ADB9260-B2A0-4FD2-B4D5-3E653974EA6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coração do agente é um loop determinístico, não uma cadeia mágica. A pergunta é primeiro sanitizada; o orquestrador roteia a intenção; recupera contexto; e o avaliador decide se é suficiente. Se não for, há a correção iterativa: ele reescreve a query e tenta de novo — essa é a seta laranja de retorno. Quando o contexto basta, gera a resposta, verifica a fundamentação e persiste. Tudo isso roda sob um orçamento explícito: número máximo de chamadas ao LLM, tentativas de recuperação e tempo de parede. Se o orçamento estoura, o loop é cortado e caímos num fallback seguro, evitando custo e latência descontrolados.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7A2C379-3E33-4CD5-8AE3-4B4B113D210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5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Confiabilidade e segurança são tratadas como mecanismos concretos, não promessas. O ContextEvaluator devolve uma estrutura tipada dizendo se o contexto é suficiente, o que falta e qual query tentar — é o que alimenta o loop corretivo. O AnswerVerifier mede a fundamentação por similaridade, exige pelo menos uma citação e remove afirmações sem suporte. Medimos a RAG-Triad: relevância do contexto, fundamentação e relevância da resposta. A fronteira de confiança é a API NestJS, com guards encadeados de JWT, escopo de clínica e de paciente, garantindo isolamento. O Sanitizer neutraliza prompt injection antes do LLM. E qualquer ação que altere dados passa por preview e confirmação humana antes do commit.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6420C59-36A0-4573-8735-AB532CADF8C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Aqui fecho a parte técnica mostrando a diferença mecanismo a mecanismo. O loop recuperar-avaliar resolve a recuperação única do RAG linear, elevando o recall e corrigindo o contexto em tempo de execução. O roteador e o planejador resolvem a ausência de decomposição, atendendo perguntas de múltiplas etapas. O registro de ferramentas tipadas permite consultar o banco ou o calendário sob demanda. O verificador com citações ataca a alucinação e torna a resposta rastreável. E o orçamento com tracing tira o sistema da caixa-preta, mantendo custo e latência sob controle e auditáveis. Em resumo: trocamos um pipeline fixo por um controlador que planeja, recupera, valida e comprova.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37046D4-B83B-4F13-9570-808EDDED6B0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6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Toda escolha técnica tem trade-offs. Para o banco vetorial, pgvector é simples e reaproveita o PostgreSQL, enquanto Qdrant ou Redis Vector escalam melhor ao custo de infraestrutura extra. Para o LLM, serviços como OpenAI ou Claude entregam qualidade com facilidade, mas Ollama local oferece privacidade e custo zero — relevante para dados clínicos. No backend, NestJS é produtivo no ecossistema TypeScript, e Go entrega mais performance. E a abordagem em si: RAG simples é rápido e barato; Agentic RAG é mais robusto, porém mais complexo. No MVP, optamos por pgvector, Ollama local e NestJS.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2D1B998-EA46-47C2-A723-40B558C0819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6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 vantagens do Agentic RAG vêm justamente de superar as limitações do RAG tradicional. A recuperação melhora porque é iterativa e corretiva. O sistema lida com perguntas de múltiplas etapas. A validação de evidência reduz alucinações. A escolha dinâmica de ferramentas permite consultar o banco ou o calendário conforme a necessidade. A explicabilidade aumenta porque o sistema mostra o raciocínio e cita fontes. No conjunto, fica muito mais adequado a tarefas reais e complexas de uma clínica.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C0D0D63-C92A-43C8-BCC7-44B10284D1F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6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É preciso ser honesto sobre os riscos. O Agentic RAG é mais complexo de construir e manter. Cada pergunta pode gerar várias chamadas ao LLM, elevando custo de tokens e latência. A observabilidade fica mais difícil, pois há decisões de múltiplos agentes para rastrear. Como lidamos com dados clínicos, o controle de permissões e o isolamento por paciente são obrigatórios. E há o risco de um agente executar ações indevidas — por isso adotamos confirmação humana (preview → commit) para qualquer ação que altere dados.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3BF3040-D7DA-4B54-94D0-9A00E18AFC1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7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Delimitar o escopo é essencial num trabalho acadêmico. Entram no MVP: cadastro de pacientes, histórico clínico textual, o chat com RAG, busca semântica, um orquestrador simples e a avaliação de resposta. Ficam deliberadamente de fora: integração real com sistemas hospitalares, qualquer diagnóstico médico automatizado, ações automáticas sem confirmação humana e o treinamento próprio de um LLM. Esses limites mantêm o projeto viável e eticamente responsável.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A4176CB-13FC-4341-AA36-46B2960F13D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7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Para concluir: o Agentic RAG torna o CRM Dental mais inteligente porque muda a natureza do sistema. Ele deixa de apenas buscar informação e passa a planejar a tarefa, validar a evidência, usar ferramentas quando necessário e produzir respostas mais confiáveis e fundamentadas. Para um contexto clínico, onde confiança e rastreabilidade são críticas, essa evolução faz diferença real — mesmo num MVP acadêmico.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DBAE051-DAC6-4478-B202-77A1BEA3BCF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7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Encerro por aqui e abro para perguntas. Obrigado pela atenção. Estou à disposição para detalhar a arquitetura, as escolhas técnicas ou o escopo do MVP.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C51D6EB-828D-4DBB-8BED-C00503CFA0D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CF8D6D3-1E8A-4EBE-AB0B-C771FDA95E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5567960-2D04-4C4A-9F17-C5AE3EA004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1373C0C-AFFB-418B-BB28-412B2EAD662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25E722-DDDE-4504-BF76-0131B04A8AD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2576E93-9799-429E-B37A-32C125288B3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1445201-B76D-4C01-A58D-A2F1B9BCF9E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B66A473-95E5-43B5-808B-3B401DBCA2F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1BB09C9-AF5D-4E9E-A172-5D567D6162D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E7D9147-E67E-416E-A921-61436983DD5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4C2F82D-D606-4AE4-802F-9DA39EC884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55D7D5B-1071-446A-9BDA-4E57F4A30CB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ounded Rectangle 1"/>
          <p:cNvSpPr/>
          <p:nvPr/>
        </p:nvSpPr>
        <p:spPr>
          <a:xfrm rot="1500000">
            <a:off x="7863840" y="-1371600"/>
            <a:ext cx="6400440" cy="6400440"/>
          </a:xfrm>
          <a:prstGeom prst="roundRect">
            <a:avLst>
              <a:gd name="adj" fmla="val 16667"/>
            </a:avLst>
          </a:prstGeom>
          <a:solidFill>
            <a:srgbClr val="0b52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Rounded Rectangle 2"/>
          <p:cNvSpPr/>
          <p:nvPr/>
        </p:nvSpPr>
        <p:spPr>
          <a:xfrm rot="1500000">
            <a:off x="9326520" y="3291840"/>
            <a:ext cx="5486040" cy="548604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Rounded Rectangle 3"/>
          <p:cNvSpPr/>
          <p:nvPr/>
        </p:nvSpPr>
        <p:spPr>
          <a:xfrm rot="1500000">
            <a:off x="10058400" y="182520"/>
            <a:ext cx="2011320" cy="201132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Rectangle 4"/>
          <p:cNvSpPr/>
          <p:nvPr/>
        </p:nvSpPr>
        <p:spPr>
          <a:xfrm>
            <a:off x="822960" y="1554480"/>
            <a:ext cx="548280" cy="11844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822960" y="1783080"/>
            <a:ext cx="6400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Segoe UI"/>
              </a:rPr>
              <a:t>PROJETO ACADÊMICO · MVP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786240" y="2240280"/>
            <a:ext cx="758916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  <a:spcAft>
                <a:spcPts val="201"/>
              </a:spcAft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CRM Dental com Chat</a:t>
            </a:r>
            <a:endParaRPr lang="en-US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201"/>
              </a:spcAft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Inteligente usando </a:t>
            </a:r>
            <a:endParaRPr lang="en-US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2000"/>
              </a:lnSpc>
              <a:spcAft>
                <a:spcPts val="201"/>
              </a:spcAft>
            </a:pPr>
            <a:r>
              <a:rPr lang="en-US" sz="4600" b="1" u="none" strike="noStrike">
                <a:solidFill>
                  <a:srgbClr val="06b6d4"/>
                </a:solidFill>
                <a:effectLst/>
                <a:uFillTx/>
                <a:latin typeface="Segoe UI"/>
              </a:rPr>
              <a:t>Agentic RAG</a:t>
            </a:r>
            <a:endParaRPr lang="en-US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Rectangle 7"/>
          <p:cNvSpPr/>
          <p:nvPr/>
        </p:nvSpPr>
        <p:spPr>
          <a:xfrm>
            <a:off x="841320" y="4709160"/>
            <a:ext cx="3108600" cy="36360"/>
          </a:xfrm>
          <a:prstGeom prst="rect">
            <a:avLst/>
          </a:prstGeom>
          <a:solidFill>
            <a:srgbClr val="4755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822960" y="4892040"/>
            <a:ext cx="7314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800" b="0" u="none" strike="noStrike">
                <a:solidFill>
                  <a:srgbClr val="94a3b8"/>
                </a:solidFill>
                <a:effectLst/>
                <a:uFillTx/>
                <a:latin typeface="Segoe UI"/>
              </a:rPr>
              <a:t>Arquitetura de um MVP acadêmico com múltiplos agentes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9"/>
          <p:cNvSpPr/>
          <p:nvPr/>
        </p:nvSpPr>
        <p:spPr>
          <a:xfrm>
            <a:off x="822960" y="5989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Segoe UI"/>
              </a:rPr>
              <a:t>Recuperação · Planejamento · Validação · Ferramentas · Respostas com fontes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"/>
          <p:cNvSpPr/>
          <p:nvPr/>
        </p:nvSpPr>
        <p:spPr>
          <a:xfrm>
            <a:off x="0" y="0"/>
            <a:ext cx="200880" cy="685764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Rectangle 2"/>
          <p:cNvSpPr/>
          <p:nvPr/>
        </p:nvSpPr>
        <p:spPr>
          <a:xfrm>
            <a:off x="548640" y="502920"/>
            <a:ext cx="502560" cy="10944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548640" y="65844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300" b="1" u="none" strike="noStrike">
                <a:solidFill>
                  <a:srgbClr val="0f766e"/>
                </a:solidFill>
                <a:effectLst/>
                <a:uFillTx/>
                <a:latin typeface="Segoe UI"/>
              </a:rPr>
              <a:t>CONTEXTO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4"/>
          <p:cNvSpPr/>
          <p:nvPr/>
        </p:nvSpPr>
        <p:spPr>
          <a:xfrm>
            <a:off x="530280" y="96012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30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O problema nas clínicas odontológicas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5"/>
          <p:cNvSpPr/>
          <p:nvPr/>
        </p:nvSpPr>
        <p:spPr>
          <a:xfrm>
            <a:off x="548640" y="157284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4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Dados clínicos existem, mas são pouco aproveitados no dia a dia.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ounded Rectangle 6"/>
          <p:cNvSpPr/>
          <p:nvPr/>
        </p:nvSpPr>
        <p:spPr>
          <a:xfrm>
            <a:off x="548640" y="2240280"/>
            <a:ext cx="2669760" cy="310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Rectangle 7"/>
          <p:cNvSpPr/>
          <p:nvPr/>
        </p:nvSpPr>
        <p:spPr>
          <a:xfrm>
            <a:off x="548640" y="2240280"/>
            <a:ext cx="91080" cy="310860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Rounded Rectangle 8"/>
          <p:cNvSpPr/>
          <p:nvPr/>
        </p:nvSpPr>
        <p:spPr>
          <a:xfrm>
            <a:off x="804600" y="240480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🗂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9"/>
          <p:cNvSpPr/>
          <p:nvPr/>
        </p:nvSpPr>
        <p:spPr>
          <a:xfrm>
            <a:off x="804600" y="2953440"/>
            <a:ext cx="2212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Histórico disperso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0"/>
          <p:cNvSpPr/>
          <p:nvPr/>
        </p:nvSpPr>
        <p:spPr>
          <a:xfrm>
            <a:off x="804600" y="3319200"/>
            <a:ext cx="221256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Informações do paciente espalhadas em fichas, PDFs, anotações e sistemas diferentes.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11"/>
          <p:cNvSpPr/>
          <p:nvPr/>
        </p:nvSpPr>
        <p:spPr>
          <a:xfrm>
            <a:off x="3383280" y="2240280"/>
            <a:ext cx="2669760" cy="310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Rectangle 12"/>
          <p:cNvSpPr/>
          <p:nvPr/>
        </p:nvSpPr>
        <p:spPr>
          <a:xfrm>
            <a:off x="3383280" y="2240280"/>
            <a:ext cx="91080" cy="310860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Rounded Rectangle 13"/>
          <p:cNvSpPr/>
          <p:nvPr/>
        </p:nvSpPr>
        <p:spPr>
          <a:xfrm>
            <a:off x="3639240" y="240480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4"/>
          <p:cNvSpPr/>
          <p:nvPr/>
        </p:nvSpPr>
        <p:spPr>
          <a:xfrm>
            <a:off x="3639240" y="2953440"/>
            <a:ext cx="2212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Busca lenta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15"/>
          <p:cNvSpPr/>
          <p:nvPr/>
        </p:nvSpPr>
        <p:spPr>
          <a:xfrm>
            <a:off x="3639240" y="3319200"/>
            <a:ext cx="221256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Encontrar a última queixa ou um procedimento exige folhear vários registros.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ounded Rectangle 16"/>
          <p:cNvSpPr/>
          <p:nvPr/>
        </p:nvSpPr>
        <p:spPr>
          <a:xfrm>
            <a:off x="6217920" y="2240280"/>
            <a:ext cx="2669760" cy="310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Rectangle 17"/>
          <p:cNvSpPr/>
          <p:nvPr/>
        </p:nvSpPr>
        <p:spPr>
          <a:xfrm>
            <a:off x="6217920" y="2240280"/>
            <a:ext cx="91080" cy="310860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Rounded Rectangle 18"/>
          <p:cNvSpPr/>
          <p:nvPr/>
        </p:nvSpPr>
        <p:spPr>
          <a:xfrm>
            <a:off x="6473880" y="240480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🗓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19"/>
          <p:cNvSpPr/>
          <p:nvPr/>
        </p:nvSpPr>
        <p:spPr>
          <a:xfrm>
            <a:off x="6473880" y="2953440"/>
            <a:ext cx="2212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Processos manuais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20"/>
          <p:cNvSpPr/>
          <p:nvPr/>
        </p:nvSpPr>
        <p:spPr>
          <a:xfrm>
            <a:off x="6473880" y="3319200"/>
            <a:ext cx="221256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Agendamentos e acompanhamentos dependem de trabalho repetitivo da equipe.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21"/>
          <p:cNvSpPr/>
          <p:nvPr/>
        </p:nvSpPr>
        <p:spPr>
          <a:xfrm>
            <a:off x="9052560" y="2240280"/>
            <a:ext cx="2669760" cy="310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Rectangle 22"/>
          <p:cNvSpPr/>
          <p:nvPr/>
        </p:nvSpPr>
        <p:spPr>
          <a:xfrm>
            <a:off x="9052560" y="2240280"/>
            <a:ext cx="91080" cy="310860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Rounded Rectangle 23"/>
          <p:cNvSpPr/>
          <p:nvPr/>
        </p:nvSpPr>
        <p:spPr>
          <a:xfrm>
            <a:off x="9308520" y="240480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4"/>
          <p:cNvSpPr/>
          <p:nvPr/>
        </p:nvSpPr>
        <p:spPr>
          <a:xfrm>
            <a:off x="9308520" y="2953440"/>
            <a:ext cx="2212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Dados subutilizados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25"/>
          <p:cNvSpPr/>
          <p:nvPr/>
        </p:nvSpPr>
        <p:spPr>
          <a:xfrm>
            <a:off x="9308520" y="3319200"/>
            <a:ext cx="221256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O conhecimento clínico acumulado raramente vira apoio à decisão.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26"/>
          <p:cNvSpPr/>
          <p:nvPr/>
        </p:nvSpPr>
        <p:spPr>
          <a:xfrm>
            <a:off x="10241280" y="641916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Segoe UI"/>
              </a:rPr>
              <a:t>CRM Dental · Agentic RAG     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0" y="0"/>
            <a:ext cx="200880" cy="685764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Rectangle 2"/>
          <p:cNvSpPr/>
          <p:nvPr/>
        </p:nvSpPr>
        <p:spPr>
          <a:xfrm>
            <a:off x="548640" y="502920"/>
            <a:ext cx="502560" cy="10944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3"/>
          <p:cNvSpPr/>
          <p:nvPr/>
        </p:nvSpPr>
        <p:spPr>
          <a:xfrm>
            <a:off x="548640" y="65844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300" b="1" u="none" strike="noStrike">
                <a:solidFill>
                  <a:srgbClr val="0f766e"/>
                </a:solidFill>
                <a:effectLst/>
                <a:uFillTx/>
                <a:latin typeface="Segoe UI"/>
              </a:rPr>
              <a:t>SOLUÇÃO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4"/>
          <p:cNvSpPr/>
          <p:nvPr/>
        </p:nvSpPr>
        <p:spPr>
          <a:xfrm>
            <a:off x="530280" y="96012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30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Proposta do MVP: um CRM Dental com chat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5"/>
          <p:cNvSpPr/>
          <p:nvPr/>
        </p:nvSpPr>
        <p:spPr>
          <a:xfrm>
            <a:off x="548640" y="157284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4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Centraliza os dados do paciente e os torna consultáveis em linguagem natural.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ounded Rectangle 6"/>
          <p:cNvSpPr/>
          <p:nvPr/>
        </p:nvSpPr>
        <p:spPr>
          <a:xfrm>
            <a:off x="548640" y="2240280"/>
            <a:ext cx="352008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Rectangle 7"/>
          <p:cNvSpPr/>
          <p:nvPr/>
        </p:nvSpPr>
        <p:spPr>
          <a:xfrm>
            <a:off x="548640" y="2240280"/>
            <a:ext cx="91080" cy="150840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Rounded Rectangle 8"/>
          <p:cNvSpPr/>
          <p:nvPr/>
        </p:nvSpPr>
        <p:spPr>
          <a:xfrm>
            <a:off x="804600" y="240480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👤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9"/>
          <p:cNvSpPr/>
          <p:nvPr/>
        </p:nvSpPr>
        <p:spPr>
          <a:xfrm>
            <a:off x="804600" y="295344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Cadastro de pacientes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0"/>
          <p:cNvSpPr/>
          <p:nvPr/>
        </p:nvSpPr>
        <p:spPr>
          <a:xfrm>
            <a:off x="804600" y="3319200"/>
            <a:ext cx="3062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Dados demográficos e de contato centralizados.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ounded Rectangle 11"/>
          <p:cNvSpPr/>
          <p:nvPr/>
        </p:nvSpPr>
        <p:spPr>
          <a:xfrm>
            <a:off x="4270320" y="2240280"/>
            <a:ext cx="352008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Rectangle 12"/>
          <p:cNvSpPr/>
          <p:nvPr/>
        </p:nvSpPr>
        <p:spPr>
          <a:xfrm>
            <a:off x="4270320" y="2240280"/>
            <a:ext cx="91080" cy="150840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Rounded Rectangle 13"/>
          <p:cNvSpPr/>
          <p:nvPr/>
        </p:nvSpPr>
        <p:spPr>
          <a:xfrm>
            <a:off x="4526280" y="240480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14"/>
          <p:cNvSpPr/>
          <p:nvPr/>
        </p:nvSpPr>
        <p:spPr>
          <a:xfrm>
            <a:off x="4526280" y="295344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Histórico clínico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15"/>
          <p:cNvSpPr/>
          <p:nvPr/>
        </p:nvSpPr>
        <p:spPr>
          <a:xfrm>
            <a:off x="4526280" y="3319200"/>
            <a:ext cx="3062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Procedimentos, queixas e evolução em um só lugar.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16"/>
          <p:cNvSpPr/>
          <p:nvPr/>
        </p:nvSpPr>
        <p:spPr>
          <a:xfrm>
            <a:off x="7992000" y="2240280"/>
            <a:ext cx="352008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Rectangle 17"/>
          <p:cNvSpPr/>
          <p:nvPr/>
        </p:nvSpPr>
        <p:spPr>
          <a:xfrm>
            <a:off x="7992000" y="2240280"/>
            <a:ext cx="91080" cy="150840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Rounded Rectangle 18"/>
          <p:cNvSpPr/>
          <p:nvPr/>
        </p:nvSpPr>
        <p:spPr>
          <a:xfrm>
            <a:off x="8247960" y="240480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📅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19"/>
          <p:cNvSpPr/>
          <p:nvPr/>
        </p:nvSpPr>
        <p:spPr>
          <a:xfrm>
            <a:off x="8247960" y="295344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Agendamentos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20"/>
          <p:cNvSpPr/>
          <p:nvPr/>
        </p:nvSpPr>
        <p:spPr>
          <a:xfrm>
            <a:off x="8247960" y="3319200"/>
            <a:ext cx="3062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Gestão de consultas e acompanhamentos.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ounded Rectangle 21"/>
          <p:cNvSpPr/>
          <p:nvPr/>
        </p:nvSpPr>
        <p:spPr>
          <a:xfrm>
            <a:off x="548640" y="3950280"/>
            <a:ext cx="352008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Rectangle 22"/>
          <p:cNvSpPr/>
          <p:nvPr/>
        </p:nvSpPr>
        <p:spPr>
          <a:xfrm>
            <a:off x="548640" y="3950280"/>
            <a:ext cx="91080" cy="150840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Rounded Rectangle 23"/>
          <p:cNvSpPr/>
          <p:nvPr/>
        </p:nvSpPr>
        <p:spPr>
          <a:xfrm>
            <a:off x="804600" y="411480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📎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24"/>
          <p:cNvSpPr/>
          <p:nvPr/>
        </p:nvSpPr>
        <p:spPr>
          <a:xfrm>
            <a:off x="804600" y="466344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Upload de documentos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25"/>
          <p:cNvSpPr/>
          <p:nvPr/>
        </p:nvSpPr>
        <p:spPr>
          <a:xfrm>
            <a:off x="804600" y="5029200"/>
            <a:ext cx="3062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PDFs, prontuários e anotações vinculados ao paciente.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ounded Rectangle 26"/>
          <p:cNvSpPr/>
          <p:nvPr/>
        </p:nvSpPr>
        <p:spPr>
          <a:xfrm>
            <a:off x="4270320" y="3950280"/>
            <a:ext cx="352008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Rectangle 27"/>
          <p:cNvSpPr/>
          <p:nvPr/>
        </p:nvSpPr>
        <p:spPr>
          <a:xfrm>
            <a:off x="4270320" y="3950280"/>
            <a:ext cx="91080" cy="150840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Rounded Rectangle 28"/>
          <p:cNvSpPr/>
          <p:nvPr/>
        </p:nvSpPr>
        <p:spPr>
          <a:xfrm>
            <a:off x="4526280" y="411480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💬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29"/>
          <p:cNvSpPr/>
          <p:nvPr/>
        </p:nvSpPr>
        <p:spPr>
          <a:xfrm>
            <a:off x="4526280" y="466344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Chat inteligente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30"/>
          <p:cNvSpPr/>
          <p:nvPr/>
        </p:nvSpPr>
        <p:spPr>
          <a:xfrm>
            <a:off x="4526280" y="5029200"/>
            <a:ext cx="3062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Consulta as informações em linguagem natural, com fontes.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ounded Rectangle 31"/>
          <p:cNvSpPr/>
          <p:nvPr/>
        </p:nvSpPr>
        <p:spPr>
          <a:xfrm>
            <a:off x="7992000" y="3950280"/>
            <a:ext cx="3520080" cy="150840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86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🌟  Diferencial do projeto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ecfeff"/>
                </a:solidFill>
                <a:effectLst/>
                <a:uFillTx/>
                <a:latin typeface="Segoe UI"/>
              </a:rPr>
              <a:t>O chat com Agentic RAG conecta tudo isso.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32"/>
          <p:cNvSpPr/>
          <p:nvPr/>
        </p:nvSpPr>
        <p:spPr>
          <a:xfrm>
            <a:off x="10241280" y="641916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Segoe UI"/>
              </a:rPr>
              <a:t>CRM Dental · Agentic RAG     03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"/>
          <p:cNvSpPr/>
          <p:nvPr/>
        </p:nvSpPr>
        <p:spPr>
          <a:xfrm>
            <a:off x="0" y="0"/>
            <a:ext cx="200880" cy="685764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Rectangle 2"/>
          <p:cNvSpPr/>
          <p:nvPr/>
        </p:nvSpPr>
        <p:spPr>
          <a:xfrm>
            <a:off x="548640" y="502920"/>
            <a:ext cx="502560" cy="10944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3"/>
          <p:cNvSpPr/>
          <p:nvPr/>
        </p:nvSpPr>
        <p:spPr>
          <a:xfrm>
            <a:off x="548640" y="65844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300" b="1" u="none" strike="noStrike">
                <a:solidFill>
                  <a:srgbClr val="0f766e"/>
                </a:solidFill>
                <a:effectLst/>
                <a:uFillTx/>
                <a:latin typeface="Segoe UI"/>
              </a:rPr>
              <a:t>FUNDAMENTO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4"/>
          <p:cNvSpPr/>
          <p:nvPr/>
        </p:nvSpPr>
        <p:spPr>
          <a:xfrm>
            <a:off x="530280" y="96012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30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RAG tradicional: busca + geração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5"/>
          <p:cNvSpPr/>
          <p:nvPr/>
        </p:nvSpPr>
        <p:spPr>
          <a:xfrm>
            <a:off x="548640" y="157284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4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Retrieval-Augmented Generation: o LLM responde com base em contexto recuperado.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ounded Rectangle 6"/>
          <p:cNvSpPr/>
          <p:nvPr/>
        </p:nvSpPr>
        <p:spPr>
          <a:xfrm>
            <a:off x="609480" y="3017520"/>
            <a:ext cx="159984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Segoe UI"/>
              </a:rPr>
              <a:t>👤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Usuário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ectangle 7"/>
          <p:cNvSpPr/>
          <p:nvPr/>
        </p:nvSpPr>
        <p:spPr>
          <a:xfrm>
            <a:off x="609480" y="3017520"/>
            <a:ext cx="1599840" cy="10944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41" name="Connector 8"/>
          <p:cNvCxnSpPr/>
          <p:nvPr/>
        </p:nvCxnSpPr>
        <p:spPr>
          <a:xfrm>
            <a:off x="2209320" y="3588840"/>
            <a:ext cx="274680" cy="360"/>
          </a:xfrm>
          <a:prstGeom prst="straightConnector1">
            <a:avLst/>
          </a:prstGeom>
          <a:ln>
            <a:solidFill>
              <a:srgbClr val="94a3b8"/>
            </a:solidFill>
            <a:round/>
            <a:tailEnd len="med" type="triangle" w="med"/>
          </a:ln>
        </p:spPr>
      </p:cxnSp>
      <p:sp>
        <p:nvSpPr>
          <p:cNvPr id="142" name="Rounded Rectangle 9"/>
          <p:cNvSpPr/>
          <p:nvPr/>
        </p:nvSpPr>
        <p:spPr>
          <a:xfrm>
            <a:off x="2484000" y="3017520"/>
            <a:ext cx="159984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Segoe UI"/>
              </a:rPr>
              <a:t>❓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Pergunta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ectangle 10"/>
          <p:cNvSpPr/>
          <p:nvPr/>
        </p:nvSpPr>
        <p:spPr>
          <a:xfrm>
            <a:off x="2484000" y="3017520"/>
            <a:ext cx="1599840" cy="10944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44" name="Connector 11"/>
          <p:cNvCxnSpPr/>
          <p:nvPr/>
        </p:nvCxnSpPr>
        <p:spPr>
          <a:xfrm>
            <a:off x="4083840" y="3588840"/>
            <a:ext cx="274680" cy="360"/>
          </a:xfrm>
          <a:prstGeom prst="straightConnector1">
            <a:avLst/>
          </a:prstGeom>
          <a:ln>
            <a:solidFill>
              <a:srgbClr val="94a3b8"/>
            </a:solidFill>
            <a:round/>
            <a:tailEnd len="med" type="triangle" w="med"/>
          </a:ln>
        </p:spPr>
      </p:cxnSp>
      <p:sp>
        <p:nvSpPr>
          <p:cNvPr id="145" name="Rounded Rectangle 12"/>
          <p:cNvSpPr/>
          <p:nvPr/>
        </p:nvSpPr>
        <p:spPr>
          <a:xfrm>
            <a:off x="4358520" y="3017520"/>
            <a:ext cx="159984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Segoe UI"/>
              </a:rPr>
              <a:t>🧭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Busca vetorial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ectangle 13"/>
          <p:cNvSpPr/>
          <p:nvPr/>
        </p:nvSpPr>
        <p:spPr>
          <a:xfrm>
            <a:off x="4358520" y="3017520"/>
            <a:ext cx="1599840" cy="10944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47" name="Connector 14"/>
          <p:cNvCxnSpPr/>
          <p:nvPr/>
        </p:nvCxnSpPr>
        <p:spPr>
          <a:xfrm>
            <a:off x="5958360" y="3588840"/>
            <a:ext cx="274680" cy="360"/>
          </a:xfrm>
          <a:prstGeom prst="straightConnector1">
            <a:avLst/>
          </a:prstGeom>
          <a:ln>
            <a:solidFill>
              <a:srgbClr val="94a3b8"/>
            </a:solidFill>
            <a:round/>
            <a:tailEnd len="med" type="triangle" w="med"/>
          </a:ln>
        </p:spPr>
      </p:cxnSp>
      <p:sp>
        <p:nvSpPr>
          <p:cNvPr id="148" name="Rounded Rectangle 15"/>
          <p:cNvSpPr/>
          <p:nvPr/>
        </p:nvSpPr>
        <p:spPr>
          <a:xfrm>
            <a:off x="6233040" y="3017520"/>
            <a:ext cx="159984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Segoe UI"/>
              </a:rPr>
              <a:t>📄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Contexto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ectangle 16"/>
          <p:cNvSpPr/>
          <p:nvPr/>
        </p:nvSpPr>
        <p:spPr>
          <a:xfrm>
            <a:off x="6233040" y="3017520"/>
            <a:ext cx="1599840" cy="10944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50" name="Connector 17"/>
          <p:cNvCxnSpPr/>
          <p:nvPr/>
        </p:nvCxnSpPr>
        <p:spPr>
          <a:xfrm>
            <a:off x="7832880" y="3588840"/>
            <a:ext cx="274680" cy="360"/>
          </a:xfrm>
          <a:prstGeom prst="straightConnector1">
            <a:avLst/>
          </a:prstGeom>
          <a:ln>
            <a:solidFill>
              <a:srgbClr val="94a3b8"/>
            </a:solidFill>
            <a:round/>
            <a:tailEnd len="med" type="triangle" w="med"/>
          </a:ln>
        </p:spPr>
      </p:cxnSp>
      <p:sp>
        <p:nvSpPr>
          <p:cNvPr id="151" name="Rounded Rectangle 18"/>
          <p:cNvSpPr/>
          <p:nvPr/>
        </p:nvSpPr>
        <p:spPr>
          <a:xfrm>
            <a:off x="8107560" y="3017520"/>
            <a:ext cx="159984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Segoe UI"/>
              </a:rPr>
              <a:t>🧠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LLM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ectangle 19"/>
          <p:cNvSpPr/>
          <p:nvPr/>
        </p:nvSpPr>
        <p:spPr>
          <a:xfrm>
            <a:off x="8107560" y="3017520"/>
            <a:ext cx="1599840" cy="109440"/>
          </a:xfrm>
          <a:prstGeom prst="rect">
            <a:avLst/>
          </a:prstGeom>
          <a:solidFill>
            <a:srgbClr val="0b52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53" name="Connector 20"/>
          <p:cNvCxnSpPr/>
          <p:nvPr/>
        </p:nvCxnSpPr>
        <p:spPr>
          <a:xfrm>
            <a:off x="9707400" y="3588840"/>
            <a:ext cx="274680" cy="360"/>
          </a:xfrm>
          <a:prstGeom prst="straightConnector1">
            <a:avLst/>
          </a:prstGeom>
          <a:ln>
            <a:solidFill>
              <a:srgbClr val="94a3b8"/>
            </a:solidFill>
            <a:round/>
            <a:tailEnd len="med" type="triangle" w="med"/>
          </a:ln>
        </p:spPr>
      </p:cxnSp>
      <p:sp>
        <p:nvSpPr>
          <p:cNvPr id="154" name="Rounded Rectangle 21"/>
          <p:cNvSpPr/>
          <p:nvPr/>
        </p:nvSpPr>
        <p:spPr>
          <a:xfrm>
            <a:off x="9982080" y="3017520"/>
            <a:ext cx="159984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Segoe UI"/>
              </a:rPr>
              <a:t>✅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Resposta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ectangle 22"/>
          <p:cNvSpPr/>
          <p:nvPr/>
        </p:nvSpPr>
        <p:spPr>
          <a:xfrm>
            <a:off x="9982080" y="3017520"/>
            <a:ext cx="1599840" cy="10944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23"/>
          <p:cNvSpPr/>
          <p:nvPr/>
        </p:nvSpPr>
        <p:spPr>
          <a:xfrm>
            <a:off x="548640" y="493776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4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A pergunta vira um vetor (embedding), o sistema busca os trechos mais semelhantes no banco vetorial e injeta esse contexto no prompt do LLM, que então gera a resposta.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24"/>
          <p:cNvSpPr/>
          <p:nvPr/>
        </p:nvSpPr>
        <p:spPr>
          <a:xfrm>
            <a:off x="10241280" y="641916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Segoe UI"/>
              </a:rPr>
              <a:t>CRM Dental · Agentic RAG     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 1"/>
          <p:cNvSpPr/>
          <p:nvPr/>
        </p:nvSpPr>
        <p:spPr>
          <a:xfrm>
            <a:off x="0" y="0"/>
            <a:ext cx="200880" cy="685764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Rectangle 2"/>
          <p:cNvSpPr/>
          <p:nvPr/>
        </p:nvSpPr>
        <p:spPr>
          <a:xfrm>
            <a:off x="548640" y="502920"/>
            <a:ext cx="502560" cy="10944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3"/>
          <p:cNvSpPr/>
          <p:nvPr/>
        </p:nvSpPr>
        <p:spPr>
          <a:xfrm>
            <a:off x="548640" y="65844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300" b="1" u="none" strike="noStrike">
                <a:solidFill>
                  <a:srgbClr val="0f766e"/>
                </a:solidFill>
                <a:effectLst/>
                <a:uFillTx/>
                <a:latin typeface="Segoe UI"/>
              </a:rPr>
              <a:t>MOTIVAÇÃO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4"/>
          <p:cNvSpPr/>
          <p:nvPr/>
        </p:nvSpPr>
        <p:spPr>
          <a:xfrm>
            <a:off x="530280" y="96012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30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Limitações do RAG tradicional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5"/>
          <p:cNvSpPr/>
          <p:nvPr/>
        </p:nvSpPr>
        <p:spPr>
          <a:xfrm>
            <a:off x="548640" y="157284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4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Um único passo de busca não dá conta de perguntas complexas.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ounded Rectangle 6"/>
          <p:cNvSpPr/>
          <p:nvPr/>
        </p:nvSpPr>
        <p:spPr>
          <a:xfrm>
            <a:off x="548640" y="2148840"/>
            <a:ext cx="352008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Rectangle 7"/>
          <p:cNvSpPr/>
          <p:nvPr/>
        </p:nvSpPr>
        <p:spPr>
          <a:xfrm>
            <a:off x="548640" y="2148840"/>
            <a:ext cx="91080" cy="141696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Rounded Rectangle 8"/>
          <p:cNvSpPr/>
          <p:nvPr/>
        </p:nvSpPr>
        <p:spPr>
          <a:xfrm>
            <a:off x="804600" y="231336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🔁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9"/>
          <p:cNvSpPr/>
          <p:nvPr/>
        </p:nvSpPr>
        <p:spPr>
          <a:xfrm>
            <a:off x="804600" y="286200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Recupera uma única vez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10"/>
          <p:cNvSpPr/>
          <p:nvPr/>
        </p:nvSpPr>
        <p:spPr>
          <a:xfrm>
            <a:off x="804600" y="322776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Sem nova tentativa se o contexto vier fraco.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ounded Rectangle 11"/>
          <p:cNvSpPr/>
          <p:nvPr/>
        </p:nvSpPr>
        <p:spPr>
          <a:xfrm>
            <a:off x="4270320" y="2148840"/>
            <a:ext cx="3502080" cy="1508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Rectangle 12"/>
          <p:cNvSpPr/>
          <p:nvPr/>
        </p:nvSpPr>
        <p:spPr>
          <a:xfrm>
            <a:off x="4270320" y="2148840"/>
            <a:ext cx="91080" cy="141696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Rounded Rectangle 13"/>
          <p:cNvSpPr/>
          <p:nvPr/>
        </p:nvSpPr>
        <p:spPr>
          <a:xfrm>
            <a:off x="4526280" y="231336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🎯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14"/>
          <p:cNvSpPr/>
          <p:nvPr/>
        </p:nvSpPr>
        <p:spPr>
          <a:xfrm>
            <a:off x="4526280" y="286200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Contexto pouco relevante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15"/>
          <p:cNvSpPr/>
          <p:nvPr/>
        </p:nvSpPr>
        <p:spPr>
          <a:xfrm>
            <a:off x="4526280" y="322776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Pode trazer trechos que não respondem à pergunta.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ounded Rectangle 16"/>
          <p:cNvSpPr/>
          <p:nvPr/>
        </p:nvSpPr>
        <p:spPr>
          <a:xfrm>
            <a:off x="7992000" y="2148840"/>
            <a:ext cx="352008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Rectangle 17"/>
          <p:cNvSpPr/>
          <p:nvPr/>
        </p:nvSpPr>
        <p:spPr>
          <a:xfrm>
            <a:off x="7992000" y="2148840"/>
            <a:ext cx="91080" cy="141696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Rounded Rectangle 18"/>
          <p:cNvSpPr/>
          <p:nvPr/>
        </p:nvSpPr>
        <p:spPr>
          <a:xfrm>
            <a:off x="8247960" y="231336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🧩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19"/>
          <p:cNvSpPr/>
          <p:nvPr/>
        </p:nvSpPr>
        <p:spPr>
          <a:xfrm>
            <a:off x="8247960" y="286200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Não planeja tarefas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20"/>
          <p:cNvSpPr/>
          <p:nvPr/>
        </p:nvSpPr>
        <p:spPr>
          <a:xfrm>
            <a:off x="8247960" y="322776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Não decompõe perguntas em etapas.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ounded Rectangle 21"/>
          <p:cNvSpPr/>
          <p:nvPr/>
        </p:nvSpPr>
        <p:spPr>
          <a:xfrm>
            <a:off x="548640" y="3749040"/>
            <a:ext cx="352008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Rectangle 22"/>
          <p:cNvSpPr/>
          <p:nvPr/>
        </p:nvSpPr>
        <p:spPr>
          <a:xfrm>
            <a:off x="548640" y="3749040"/>
            <a:ext cx="91080" cy="141696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Rounded Rectangle 23"/>
          <p:cNvSpPr/>
          <p:nvPr/>
        </p:nvSpPr>
        <p:spPr>
          <a:xfrm>
            <a:off x="804600" y="391356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🛠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24"/>
          <p:cNvSpPr/>
          <p:nvPr/>
        </p:nvSpPr>
        <p:spPr>
          <a:xfrm>
            <a:off x="804600" y="446220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Não escolhe ferramentas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25"/>
          <p:cNvSpPr/>
          <p:nvPr/>
        </p:nvSpPr>
        <p:spPr>
          <a:xfrm>
            <a:off x="804600" y="482796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Não consulta banco estruturado nem APIs.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ounded Rectangle 26"/>
          <p:cNvSpPr/>
          <p:nvPr/>
        </p:nvSpPr>
        <p:spPr>
          <a:xfrm>
            <a:off x="4270320" y="3749040"/>
            <a:ext cx="352008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Rectangle 27"/>
          <p:cNvSpPr/>
          <p:nvPr/>
        </p:nvSpPr>
        <p:spPr>
          <a:xfrm>
            <a:off x="4270320" y="3749040"/>
            <a:ext cx="91080" cy="141696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Rounded Rectangle 28"/>
          <p:cNvSpPr/>
          <p:nvPr/>
        </p:nvSpPr>
        <p:spPr>
          <a:xfrm>
            <a:off x="4526280" y="391356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🌀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29"/>
          <p:cNvSpPr/>
          <p:nvPr/>
        </p:nvSpPr>
        <p:spPr>
          <a:xfrm>
            <a:off x="4526280" y="446220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Sofre com perguntas complexas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30"/>
          <p:cNvSpPr/>
          <p:nvPr/>
        </p:nvSpPr>
        <p:spPr>
          <a:xfrm>
            <a:off x="4526280" y="482796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Perguntas multi-etapas ficam incompletas.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ounded Rectangle 31"/>
          <p:cNvSpPr/>
          <p:nvPr/>
        </p:nvSpPr>
        <p:spPr>
          <a:xfrm>
            <a:off x="7992000" y="3749040"/>
            <a:ext cx="352008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Rectangle 32"/>
          <p:cNvSpPr/>
          <p:nvPr/>
        </p:nvSpPr>
        <p:spPr>
          <a:xfrm>
            <a:off x="7992000" y="3749040"/>
            <a:ext cx="91080" cy="141696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Rounded Rectangle 33"/>
          <p:cNvSpPr/>
          <p:nvPr/>
        </p:nvSpPr>
        <p:spPr>
          <a:xfrm>
            <a:off x="8247960" y="391356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⚠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34"/>
          <p:cNvSpPr/>
          <p:nvPr/>
        </p:nvSpPr>
        <p:spPr>
          <a:xfrm>
            <a:off x="8247960" y="446220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Não valida a resposta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35"/>
          <p:cNvSpPr/>
          <p:nvPr/>
        </p:nvSpPr>
        <p:spPr>
          <a:xfrm>
            <a:off x="8247960" y="482796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Sem checagem de fundamentação nas fontes.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36"/>
          <p:cNvSpPr/>
          <p:nvPr/>
        </p:nvSpPr>
        <p:spPr>
          <a:xfrm>
            <a:off x="10241280" y="641916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Segoe UI"/>
              </a:rPr>
              <a:t>CRM Dental · Agentic RAG     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1"/>
          <p:cNvSpPr/>
          <p:nvPr/>
        </p:nvSpPr>
        <p:spPr>
          <a:xfrm>
            <a:off x="0" y="0"/>
            <a:ext cx="200880" cy="685764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Rectangle 2"/>
          <p:cNvSpPr/>
          <p:nvPr/>
        </p:nvSpPr>
        <p:spPr>
          <a:xfrm>
            <a:off x="548640" y="502920"/>
            <a:ext cx="502560" cy="10944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Box 3"/>
          <p:cNvSpPr/>
          <p:nvPr/>
        </p:nvSpPr>
        <p:spPr>
          <a:xfrm>
            <a:off x="548640" y="65844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300" b="1" u="none" strike="noStrike">
                <a:solidFill>
                  <a:srgbClr val="0f766e"/>
                </a:solidFill>
                <a:effectLst/>
                <a:uFillTx/>
                <a:latin typeface="Segoe UI"/>
              </a:rPr>
              <a:t>EVOLUÇÃO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4"/>
          <p:cNvSpPr/>
          <p:nvPr/>
        </p:nvSpPr>
        <p:spPr>
          <a:xfrm>
            <a:off x="530280" y="96012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30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De RAG para Agentic RAG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5"/>
          <p:cNvSpPr/>
          <p:nvPr/>
        </p:nvSpPr>
        <p:spPr>
          <a:xfrm>
            <a:off x="548640" y="157284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4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Agentes especializados que planejam, decidem e cooperam.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ounded Rectangle 6"/>
          <p:cNvSpPr/>
          <p:nvPr/>
        </p:nvSpPr>
        <p:spPr>
          <a:xfrm>
            <a:off x="548640" y="2148840"/>
            <a:ext cx="352008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Rectangle 7"/>
          <p:cNvSpPr/>
          <p:nvPr/>
        </p:nvSpPr>
        <p:spPr>
          <a:xfrm>
            <a:off x="548640" y="2148840"/>
            <a:ext cx="91080" cy="137124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Rounded Rectangle 8"/>
          <p:cNvSpPr/>
          <p:nvPr/>
        </p:nvSpPr>
        <p:spPr>
          <a:xfrm>
            <a:off x="804600" y="231336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🧭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9"/>
          <p:cNvSpPr/>
          <p:nvPr/>
        </p:nvSpPr>
        <p:spPr>
          <a:xfrm>
            <a:off x="804600" y="286200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Orquestrador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10"/>
          <p:cNvSpPr/>
          <p:nvPr/>
        </p:nvSpPr>
        <p:spPr>
          <a:xfrm>
            <a:off x="804600" y="322776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Decide os próximos passos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Rounded Rectangle 11"/>
          <p:cNvSpPr/>
          <p:nvPr/>
        </p:nvSpPr>
        <p:spPr>
          <a:xfrm>
            <a:off x="4270320" y="2148840"/>
            <a:ext cx="352008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Rectangle 12"/>
          <p:cNvSpPr/>
          <p:nvPr/>
        </p:nvSpPr>
        <p:spPr>
          <a:xfrm>
            <a:off x="4270320" y="2148840"/>
            <a:ext cx="91080" cy="137124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Rounded Rectangle 13"/>
          <p:cNvSpPr/>
          <p:nvPr/>
        </p:nvSpPr>
        <p:spPr>
          <a:xfrm>
            <a:off x="4526280" y="231336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🔎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14"/>
          <p:cNvSpPr/>
          <p:nvPr/>
        </p:nvSpPr>
        <p:spPr>
          <a:xfrm>
            <a:off x="4526280" y="286200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Recuperação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15"/>
          <p:cNvSpPr/>
          <p:nvPr/>
        </p:nvSpPr>
        <p:spPr>
          <a:xfrm>
            <a:off x="4526280" y="322776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Busca documentos relevantes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Rounded Rectangle 16"/>
          <p:cNvSpPr/>
          <p:nvPr/>
        </p:nvSpPr>
        <p:spPr>
          <a:xfrm>
            <a:off x="7992000" y="2148840"/>
            <a:ext cx="352008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Rectangle 17"/>
          <p:cNvSpPr/>
          <p:nvPr/>
        </p:nvSpPr>
        <p:spPr>
          <a:xfrm>
            <a:off x="7992000" y="2148840"/>
            <a:ext cx="91080" cy="137124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Rounded Rectangle 18"/>
          <p:cNvSpPr/>
          <p:nvPr/>
        </p:nvSpPr>
        <p:spPr>
          <a:xfrm>
            <a:off x="8247960" y="231336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🗄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19"/>
          <p:cNvSpPr/>
          <p:nvPr/>
        </p:nvSpPr>
        <p:spPr>
          <a:xfrm>
            <a:off x="8247960" y="286200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Banco de dados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20"/>
          <p:cNvSpPr/>
          <p:nvPr/>
        </p:nvSpPr>
        <p:spPr>
          <a:xfrm>
            <a:off x="8247960" y="322776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Consulta dados estruturados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Rounded Rectangle 21"/>
          <p:cNvSpPr/>
          <p:nvPr/>
        </p:nvSpPr>
        <p:spPr>
          <a:xfrm>
            <a:off x="548640" y="3703320"/>
            <a:ext cx="352008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Rectangle 22"/>
          <p:cNvSpPr/>
          <p:nvPr/>
        </p:nvSpPr>
        <p:spPr>
          <a:xfrm>
            <a:off x="548640" y="3703320"/>
            <a:ext cx="91080" cy="137124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Rounded Rectangle 23"/>
          <p:cNvSpPr/>
          <p:nvPr/>
        </p:nvSpPr>
        <p:spPr>
          <a:xfrm>
            <a:off x="804600" y="386784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✔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24"/>
          <p:cNvSpPr/>
          <p:nvPr/>
        </p:nvSpPr>
        <p:spPr>
          <a:xfrm>
            <a:off x="804600" y="44164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Avaliador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25"/>
          <p:cNvSpPr/>
          <p:nvPr/>
        </p:nvSpPr>
        <p:spPr>
          <a:xfrm>
            <a:off x="804600" y="478224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Valida a relevância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Rounded Rectangle 26"/>
          <p:cNvSpPr/>
          <p:nvPr/>
        </p:nvSpPr>
        <p:spPr>
          <a:xfrm>
            <a:off x="4270320" y="3703320"/>
            <a:ext cx="352008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Rectangle 27"/>
          <p:cNvSpPr/>
          <p:nvPr/>
        </p:nvSpPr>
        <p:spPr>
          <a:xfrm>
            <a:off x="4270320" y="3703320"/>
            <a:ext cx="91080" cy="137124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Rounded Rectangle 28"/>
          <p:cNvSpPr/>
          <p:nvPr/>
        </p:nvSpPr>
        <p:spPr>
          <a:xfrm>
            <a:off x="4526280" y="386784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✍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29"/>
          <p:cNvSpPr/>
          <p:nvPr/>
        </p:nvSpPr>
        <p:spPr>
          <a:xfrm>
            <a:off x="4526280" y="44164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Sintetizador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30"/>
          <p:cNvSpPr/>
          <p:nvPr/>
        </p:nvSpPr>
        <p:spPr>
          <a:xfrm>
            <a:off x="4526280" y="478224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Gera a resposta final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Rounded Rectangle 31"/>
          <p:cNvSpPr/>
          <p:nvPr/>
        </p:nvSpPr>
        <p:spPr>
          <a:xfrm>
            <a:off x="7992000" y="3703320"/>
            <a:ext cx="352008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Rectangle 32"/>
          <p:cNvSpPr/>
          <p:nvPr/>
        </p:nvSpPr>
        <p:spPr>
          <a:xfrm>
            <a:off x="7992000" y="3703320"/>
            <a:ext cx="91080" cy="137124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Rounded Rectangle 33"/>
          <p:cNvSpPr/>
          <p:nvPr/>
        </p:nvSpPr>
        <p:spPr>
          <a:xfrm>
            <a:off x="8247960" y="386784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34"/>
          <p:cNvSpPr/>
          <p:nvPr/>
        </p:nvSpPr>
        <p:spPr>
          <a:xfrm>
            <a:off x="8247960" y="44164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Ferramentas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35"/>
          <p:cNvSpPr/>
          <p:nvPr/>
        </p:nvSpPr>
        <p:spPr>
          <a:xfrm>
            <a:off x="8247960" y="478224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Chama calendário / APIs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36"/>
          <p:cNvSpPr/>
          <p:nvPr/>
        </p:nvSpPr>
        <p:spPr>
          <a:xfrm>
            <a:off x="10241280" y="641916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Segoe UI"/>
              </a:rPr>
              <a:t>CRM Dental · Agentic RAG     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Rectangle 1"/>
          <p:cNvSpPr/>
          <p:nvPr/>
        </p:nvSpPr>
        <p:spPr>
          <a:xfrm>
            <a:off x="0" y="0"/>
            <a:ext cx="200880" cy="685764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Rectangle 2"/>
          <p:cNvSpPr/>
          <p:nvPr/>
        </p:nvSpPr>
        <p:spPr>
          <a:xfrm>
            <a:off x="548640" y="502920"/>
            <a:ext cx="502560" cy="10944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Box 3"/>
          <p:cNvSpPr/>
          <p:nvPr/>
        </p:nvSpPr>
        <p:spPr>
          <a:xfrm>
            <a:off x="548640" y="65844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300" b="1" u="none" strike="noStrike">
                <a:solidFill>
                  <a:srgbClr val="0f766e"/>
                </a:solidFill>
                <a:effectLst/>
                <a:uFillTx/>
                <a:latin typeface="Segoe UI"/>
              </a:rPr>
              <a:t>ARQUITETURA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4"/>
          <p:cNvSpPr/>
          <p:nvPr/>
        </p:nvSpPr>
        <p:spPr>
          <a:xfrm>
            <a:off x="530280" y="96012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30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Visão geral da arquitetura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5"/>
          <p:cNvSpPr/>
          <p:nvPr/>
        </p:nvSpPr>
        <p:spPr>
          <a:xfrm>
            <a:off x="548640" y="157284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4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Frontend → API → Orquestrador de Agentes → Fontes de dados → Resposta.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Rounded Rectangle 6"/>
          <p:cNvSpPr/>
          <p:nvPr/>
        </p:nvSpPr>
        <p:spPr>
          <a:xfrm>
            <a:off x="548640" y="2331720"/>
            <a:ext cx="1874160" cy="100548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Frontend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Next.js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Rounded Rectangle 7"/>
          <p:cNvSpPr/>
          <p:nvPr/>
        </p:nvSpPr>
        <p:spPr>
          <a:xfrm>
            <a:off x="2697480" y="2331720"/>
            <a:ext cx="1874160" cy="100548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API Backend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NestJS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Rounded Rectangle 8"/>
          <p:cNvSpPr/>
          <p:nvPr/>
        </p:nvSpPr>
        <p:spPr>
          <a:xfrm>
            <a:off x="4846320" y="2331720"/>
            <a:ext cx="2239920" cy="1005480"/>
          </a:xfrm>
          <a:prstGeom prst="roundRect">
            <a:avLst>
              <a:gd name="adj" fmla="val 16667"/>
            </a:avLst>
          </a:prstGeom>
          <a:solidFill>
            <a:srgbClr val="0b524b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Orquestrador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de Agentes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máquina de estados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38" name="Connector 9"/>
          <p:cNvCxnSpPr/>
          <p:nvPr/>
        </p:nvCxnSpPr>
        <p:spPr>
          <a:xfrm>
            <a:off x="2423160" y="2834640"/>
            <a:ext cx="274680" cy="360"/>
          </a:xfrm>
          <a:prstGeom prst="straightConnector1">
            <a:avLst/>
          </a:prstGeom>
          <a:ln>
            <a:solidFill>
              <a:srgbClr val="94a3b8"/>
            </a:solidFill>
            <a:round/>
            <a:tailEnd len="med" type="triangle" w="med"/>
          </a:ln>
        </p:spPr>
      </p:cxnSp>
      <p:cxnSp>
        <p:nvCxnSpPr>
          <p:cNvPr id="239" name="Connector 10"/>
          <p:cNvCxnSpPr/>
          <p:nvPr/>
        </p:nvCxnSpPr>
        <p:spPr>
          <a:xfrm>
            <a:off x="4572000" y="2834640"/>
            <a:ext cx="274680" cy="360"/>
          </a:xfrm>
          <a:prstGeom prst="straightConnector1">
            <a:avLst/>
          </a:prstGeom>
          <a:ln>
            <a:solidFill>
              <a:srgbClr val="94a3b8"/>
            </a:solidFill>
            <a:round/>
            <a:tailEnd len="med" type="triangle" w="med"/>
          </a:ln>
        </p:spPr>
      </p:cxnSp>
      <p:sp>
        <p:nvSpPr>
          <p:cNvPr id="240" name="Rounded Rectangle 11"/>
          <p:cNvSpPr/>
          <p:nvPr/>
        </p:nvSpPr>
        <p:spPr>
          <a:xfrm>
            <a:off x="7818120" y="1874520"/>
            <a:ext cx="3794400" cy="71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Vector DB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pgvector / Qdrant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Rectangle 12"/>
          <p:cNvSpPr/>
          <p:nvPr/>
        </p:nvSpPr>
        <p:spPr>
          <a:xfrm>
            <a:off x="7818120" y="1874520"/>
            <a:ext cx="82080" cy="71280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42" name="Connector 13"/>
          <p:cNvCxnSpPr/>
          <p:nvPr/>
        </p:nvCxnSpPr>
        <p:spPr>
          <a:xfrm flipV="1">
            <a:off x="7086600" y="2230920"/>
            <a:ext cx="731880" cy="604080"/>
          </a:xfrm>
          <a:prstGeom prst="straightConnector1">
            <a:avLst/>
          </a:prstGeom>
          <a:ln w="19050">
            <a:solidFill>
              <a:srgbClr val="94a3b8"/>
            </a:solidFill>
            <a:round/>
            <a:tailEnd len="med" type="triangle" w="med"/>
          </a:ln>
        </p:spPr>
      </p:cxnSp>
      <p:sp>
        <p:nvSpPr>
          <p:cNvPr id="243" name="Rounded Rectangle 14"/>
          <p:cNvSpPr/>
          <p:nvPr/>
        </p:nvSpPr>
        <p:spPr>
          <a:xfrm>
            <a:off x="7818120" y="2770560"/>
            <a:ext cx="3794400" cy="71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PostgreSQL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dados clínicos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Rectangle 15"/>
          <p:cNvSpPr/>
          <p:nvPr/>
        </p:nvSpPr>
        <p:spPr>
          <a:xfrm>
            <a:off x="7818120" y="2770560"/>
            <a:ext cx="82080" cy="71280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45" name="Connector 16"/>
          <p:cNvCxnSpPr/>
          <p:nvPr/>
        </p:nvCxnSpPr>
        <p:spPr>
          <a:xfrm>
            <a:off x="7086600" y="2834640"/>
            <a:ext cx="731880" cy="292680"/>
          </a:xfrm>
          <a:prstGeom prst="straightConnector1">
            <a:avLst/>
          </a:prstGeom>
          <a:ln w="19050">
            <a:solidFill>
              <a:srgbClr val="94a3b8"/>
            </a:solidFill>
            <a:round/>
            <a:tailEnd len="med" type="triangle" w="med"/>
          </a:ln>
        </p:spPr>
      </p:cxnSp>
      <p:sp>
        <p:nvSpPr>
          <p:cNvPr id="246" name="Rounded Rectangle 17"/>
          <p:cNvSpPr/>
          <p:nvPr/>
        </p:nvSpPr>
        <p:spPr>
          <a:xfrm>
            <a:off x="7818120" y="3666600"/>
            <a:ext cx="3794400" cy="71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Storage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documentos / PDFs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Rectangle 18"/>
          <p:cNvSpPr/>
          <p:nvPr/>
        </p:nvSpPr>
        <p:spPr>
          <a:xfrm>
            <a:off x="7818120" y="3666600"/>
            <a:ext cx="82080" cy="71280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48" name="Connector 19"/>
          <p:cNvCxnSpPr/>
          <p:nvPr/>
        </p:nvCxnSpPr>
        <p:spPr>
          <a:xfrm>
            <a:off x="7086600" y="2834640"/>
            <a:ext cx="731880" cy="1188720"/>
          </a:xfrm>
          <a:prstGeom prst="straightConnector1">
            <a:avLst/>
          </a:prstGeom>
          <a:ln w="19050">
            <a:solidFill>
              <a:srgbClr val="94a3b8"/>
            </a:solidFill>
            <a:round/>
            <a:tailEnd len="med" type="triangle" w="med"/>
          </a:ln>
        </p:spPr>
      </p:cxnSp>
      <p:sp>
        <p:nvSpPr>
          <p:cNvPr id="249" name="Rounded Rectangle 20"/>
          <p:cNvSpPr/>
          <p:nvPr/>
        </p:nvSpPr>
        <p:spPr>
          <a:xfrm>
            <a:off x="7818120" y="4563000"/>
            <a:ext cx="3794400" cy="71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Calendar API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agendamentos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Rectangle 21"/>
          <p:cNvSpPr/>
          <p:nvPr/>
        </p:nvSpPr>
        <p:spPr>
          <a:xfrm>
            <a:off x="7818120" y="4563000"/>
            <a:ext cx="82080" cy="71280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51" name="Connector 22"/>
          <p:cNvCxnSpPr/>
          <p:nvPr/>
        </p:nvCxnSpPr>
        <p:spPr>
          <a:xfrm>
            <a:off x="7086600" y="2834640"/>
            <a:ext cx="731880" cy="2085120"/>
          </a:xfrm>
          <a:prstGeom prst="straightConnector1">
            <a:avLst/>
          </a:prstGeom>
          <a:ln w="19050">
            <a:solidFill>
              <a:srgbClr val="94a3b8"/>
            </a:solidFill>
            <a:round/>
            <a:tailEnd len="med" type="triangle" w="med"/>
          </a:ln>
        </p:spPr>
      </p:cxnSp>
      <p:sp>
        <p:nvSpPr>
          <p:cNvPr id="252" name="Rounded Rectangle 23"/>
          <p:cNvSpPr/>
          <p:nvPr/>
        </p:nvSpPr>
        <p:spPr>
          <a:xfrm>
            <a:off x="4846320" y="4617720"/>
            <a:ext cx="2239920" cy="822600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Resposta ao usuário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com fontes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53" name="Connector 24"/>
          <p:cNvCxnSpPr/>
          <p:nvPr/>
        </p:nvCxnSpPr>
        <p:spPr>
          <a:xfrm>
            <a:off x="5961600" y="3337560"/>
            <a:ext cx="360" cy="1280520"/>
          </a:xfrm>
          <a:prstGeom prst="straightConnector1">
            <a:avLst/>
          </a:prstGeom>
          <a:ln>
            <a:solidFill>
              <a:srgbClr val="16a34a"/>
            </a:solidFill>
            <a:round/>
            <a:tailEnd len="med" type="triangle" w="med"/>
          </a:ln>
        </p:spPr>
      </p:cxnSp>
      <p:sp>
        <p:nvSpPr>
          <p:cNvPr id="254" name="TextBox 25"/>
          <p:cNvSpPr/>
          <p:nvPr/>
        </p:nvSpPr>
        <p:spPr>
          <a:xfrm>
            <a:off x="548640" y="5623560"/>
            <a:ext cx="1097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1" u="none" strike="noStrike">
                <a:solidFill>
                  <a:srgbClr val="0f766e"/>
                </a:solidFill>
                <a:effectLst/>
                <a:uFillTx/>
                <a:latin typeface="Segoe UI"/>
              </a:rPr>
              <a:t>Stack do MVP:  </a:t>
            </a: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Next.js  ·  NestJS  ·  PostgreSQL  ·  pgvector/Qdrant/Redis Vector  ·  LLM via Ollama (local) ou OpenAI/Claude  ·  Embeddings nomic-embed-text / bge / e5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26"/>
          <p:cNvSpPr/>
          <p:nvPr/>
        </p:nvSpPr>
        <p:spPr>
          <a:xfrm>
            <a:off x="10241280" y="641916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Segoe UI"/>
              </a:rPr>
              <a:t>CRM Dental · Agentic RAG     07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Rectangle 1"/>
          <p:cNvSpPr/>
          <p:nvPr/>
        </p:nvSpPr>
        <p:spPr>
          <a:xfrm>
            <a:off x="0" y="0"/>
            <a:ext cx="200880" cy="685764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Rectangle 2"/>
          <p:cNvSpPr/>
          <p:nvPr/>
        </p:nvSpPr>
        <p:spPr>
          <a:xfrm>
            <a:off x="548640" y="502920"/>
            <a:ext cx="502560" cy="10944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TextBox 3"/>
          <p:cNvSpPr/>
          <p:nvPr/>
        </p:nvSpPr>
        <p:spPr>
          <a:xfrm>
            <a:off x="548640" y="65844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300" b="1" u="none" strike="noStrike">
                <a:solidFill>
                  <a:srgbClr val="0f766e"/>
                </a:solidFill>
                <a:effectLst/>
                <a:uFillTx/>
                <a:latin typeface="Segoe UI"/>
              </a:rPr>
              <a:t>PIPELINE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4"/>
          <p:cNvSpPr/>
          <p:nvPr/>
        </p:nvSpPr>
        <p:spPr>
          <a:xfrm>
            <a:off x="530280" y="96012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30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Fluxo de ingestão dos documentos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5"/>
          <p:cNvSpPr/>
          <p:nvPr/>
        </p:nvSpPr>
        <p:spPr>
          <a:xfrm>
            <a:off x="548640" y="157284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4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Como prontuários e anotações viram conhecimento pesquisável.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Rounded Rectangle 6"/>
          <p:cNvSpPr/>
          <p:nvPr/>
        </p:nvSpPr>
        <p:spPr>
          <a:xfrm>
            <a:off x="595800" y="2606040"/>
            <a:ext cx="1627200" cy="1188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chemeClr val="lt1"/>
                </a:solidFill>
                <a:effectLst/>
                <a:uFillTx/>
                <a:latin typeface="Segoe UI"/>
              </a:rPr>
              <a:t>📄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PDFs &amp;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anotações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Rectangle 7"/>
          <p:cNvSpPr/>
          <p:nvPr/>
        </p:nvSpPr>
        <p:spPr>
          <a:xfrm>
            <a:off x="595800" y="2606040"/>
            <a:ext cx="1627200" cy="10944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63" name="Connector 8"/>
          <p:cNvCxnSpPr/>
          <p:nvPr/>
        </p:nvCxnSpPr>
        <p:spPr>
          <a:xfrm>
            <a:off x="2223360" y="3200400"/>
            <a:ext cx="246960" cy="360"/>
          </a:xfrm>
          <a:prstGeom prst="straightConnector1">
            <a:avLst/>
          </a:prstGeom>
          <a:ln>
            <a:solidFill>
              <a:srgbClr val="94a3b8"/>
            </a:solidFill>
            <a:round/>
            <a:tailEnd len="med" type="triangle" w="med"/>
          </a:ln>
        </p:spPr>
      </p:cxnSp>
      <p:sp>
        <p:nvSpPr>
          <p:cNvPr id="264" name="Rounded Rectangle 9"/>
          <p:cNvSpPr/>
          <p:nvPr/>
        </p:nvSpPr>
        <p:spPr>
          <a:xfrm>
            <a:off x="2470320" y="2606040"/>
            <a:ext cx="1627200" cy="1188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chemeClr val="lt1"/>
                </a:solidFill>
                <a:effectLst/>
                <a:uFillTx/>
                <a:latin typeface="Segoe UI"/>
              </a:rPr>
              <a:t>🔧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Parser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Rectangle 10"/>
          <p:cNvSpPr/>
          <p:nvPr/>
        </p:nvSpPr>
        <p:spPr>
          <a:xfrm>
            <a:off x="2470320" y="2606040"/>
            <a:ext cx="1627200" cy="10944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66" name="Connector 11"/>
          <p:cNvCxnSpPr/>
          <p:nvPr/>
        </p:nvCxnSpPr>
        <p:spPr>
          <a:xfrm>
            <a:off x="4097880" y="3200400"/>
            <a:ext cx="246960" cy="360"/>
          </a:xfrm>
          <a:prstGeom prst="straightConnector1">
            <a:avLst/>
          </a:prstGeom>
          <a:ln>
            <a:solidFill>
              <a:srgbClr val="94a3b8"/>
            </a:solidFill>
            <a:round/>
            <a:tailEnd len="med" type="triangle" w="med"/>
          </a:ln>
        </p:spPr>
      </p:cxnSp>
      <p:sp>
        <p:nvSpPr>
          <p:cNvPr id="267" name="Rounded Rectangle 12"/>
          <p:cNvSpPr/>
          <p:nvPr/>
        </p:nvSpPr>
        <p:spPr>
          <a:xfrm>
            <a:off x="4344840" y="2606040"/>
            <a:ext cx="1627200" cy="1188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chemeClr val="lt1"/>
                </a:solidFill>
                <a:effectLst/>
                <a:uFillTx/>
                <a:latin typeface="Segoe UI"/>
              </a:rPr>
              <a:t>🧹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Limpeza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Rectangle 13"/>
          <p:cNvSpPr/>
          <p:nvPr/>
        </p:nvSpPr>
        <p:spPr>
          <a:xfrm>
            <a:off x="4344840" y="2606040"/>
            <a:ext cx="1627200" cy="10944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69" name="Connector 14"/>
          <p:cNvCxnSpPr/>
          <p:nvPr/>
        </p:nvCxnSpPr>
        <p:spPr>
          <a:xfrm>
            <a:off x="5972400" y="3200400"/>
            <a:ext cx="246960" cy="360"/>
          </a:xfrm>
          <a:prstGeom prst="straightConnector1">
            <a:avLst/>
          </a:prstGeom>
          <a:ln>
            <a:solidFill>
              <a:srgbClr val="94a3b8"/>
            </a:solidFill>
            <a:round/>
            <a:tailEnd len="med" type="triangle" w="med"/>
          </a:ln>
        </p:spPr>
      </p:cxnSp>
      <p:sp>
        <p:nvSpPr>
          <p:cNvPr id="270" name="Rounded Rectangle 15"/>
          <p:cNvSpPr/>
          <p:nvPr/>
        </p:nvSpPr>
        <p:spPr>
          <a:xfrm>
            <a:off x="6219360" y="2606040"/>
            <a:ext cx="1627200" cy="1188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chemeClr val="lt1"/>
                </a:solidFill>
                <a:effectLst/>
                <a:uFillTx/>
                <a:latin typeface="Segoe UI"/>
              </a:rPr>
              <a:t>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Chunking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Rectangle 16"/>
          <p:cNvSpPr/>
          <p:nvPr/>
        </p:nvSpPr>
        <p:spPr>
          <a:xfrm>
            <a:off x="6219360" y="2606040"/>
            <a:ext cx="1627200" cy="10944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72" name="Connector 17"/>
          <p:cNvCxnSpPr/>
          <p:nvPr/>
        </p:nvCxnSpPr>
        <p:spPr>
          <a:xfrm>
            <a:off x="7846920" y="3200400"/>
            <a:ext cx="246960" cy="360"/>
          </a:xfrm>
          <a:prstGeom prst="straightConnector1">
            <a:avLst/>
          </a:prstGeom>
          <a:ln>
            <a:solidFill>
              <a:srgbClr val="94a3b8"/>
            </a:solidFill>
            <a:round/>
            <a:tailEnd len="med" type="triangle" w="med"/>
          </a:ln>
        </p:spPr>
      </p:cxnSp>
      <p:sp>
        <p:nvSpPr>
          <p:cNvPr id="273" name="Rounded Rectangle 18"/>
          <p:cNvSpPr/>
          <p:nvPr/>
        </p:nvSpPr>
        <p:spPr>
          <a:xfrm>
            <a:off x="8093880" y="2606040"/>
            <a:ext cx="1627200" cy="1188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chemeClr val="lt1"/>
                </a:solidFill>
                <a:effectLst/>
                <a:uFillTx/>
                <a:latin typeface="Segoe UI"/>
              </a:rPr>
              <a:t>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Embeddings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Rectangle 19"/>
          <p:cNvSpPr/>
          <p:nvPr/>
        </p:nvSpPr>
        <p:spPr>
          <a:xfrm>
            <a:off x="8093880" y="2606040"/>
            <a:ext cx="1627200" cy="109440"/>
          </a:xfrm>
          <a:prstGeom prst="rect">
            <a:avLst/>
          </a:prstGeom>
          <a:solidFill>
            <a:srgbClr val="0b52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75" name="Connector 20"/>
          <p:cNvCxnSpPr/>
          <p:nvPr/>
        </p:nvCxnSpPr>
        <p:spPr>
          <a:xfrm>
            <a:off x="9721440" y="3200400"/>
            <a:ext cx="246960" cy="360"/>
          </a:xfrm>
          <a:prstGeom prst="straightConnector1">
            <a:avLst/>
          </a:prstGeom>
          <a:ln>
            <a:solidFill>
              <a:srgbClr val="94a3b8"/>
            </a:solidFill>
            <a:round/>
            <a:tailEnd len="med" type="triangle" w="med"/>
          </a:ln>
        </p:spPr>
      </p:cxnSp>
      <p:sp>
        <p:nvSpPr>
          <p:cNvPr id="276" name="Rounded Rectangle 21"/>
          <p:cNvSpPr/>
          <p:nvPr/>
        </p:nvSpPr>
        <p:spPr>
          <a:xfrm>
            <a:off x="9968400" y="2606040"/>
            <a:ext cx="1627200" cy="1188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chemeClr val="lt1"/>
                </a:solidFill>
                <a:effectLst/>
                <a:uFillTx/>
                <a:latin typeface="Segoe UI"/>
              </a:rPr>
              <a:t>🗃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Vector DB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Rectangle 22"/>
          <p:cNvSpPr/>
          <p:nvPr/>
        </p:nvSpPr>
        <p:spPr>
          <a:xfrm>
            <a:off x="9968400" y="2606040"/>
            <a:ext cx="1627200" cy="10944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Rounded Rectangle 23"/>
          <p:cNvSpPr/>
          <p:nvPr/>
        </p:nvSpPr>
        <p:spPr>
          <a:xfrm>
            <a:off x="3108960" y="4297680"/>
            <a:ext cx="5943240" cy="914040"/>
          </a:xfrm>
          <a:prstGeom prst="roundRect">
            <a:avLst>
              <a:gd name="adj" fmla="val 16667"/>
            </a:avLst>
          </a:prstGeom>
          <a:solidFill>
            <a:srgbClr val="ecfe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0b524b"/>
                </a:solidFill>
                <a:effectLst/>
                <a:uFillTx/>
                <a:latin typeface="Segoe UI"/>
              </a:rPr>
              <a:t>🗄  Metadados no PostgreSQL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paciente, tipo de documento, versão e referência do chunk — garantem isolamento e rastreabilidade.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9" name="Connector 24"/>
          <p:cNvCxnSpPr/>
          <p:nvPr/>
        </p:nvCxnSpPr>
        <p:spPr>
          <a:xfrm>
            <a:off x="6035040" y="3794760"/>
            <a:ext cx="360" cy="503280"/>
          </a:xfrm>
          <a:prstGeom prst="straightConnector1">
            <a:avLst/>
          </a:prstGeom>
          <a:ln w="19050">
            <a:solidFill>
              <a:srgbClr val="94a3b8"/>
            </a:solidFill>
            <a:round/>
            <a:tailEnd len="med" type="triangle" w="med"/>
          </a:ln>
        </p:spPr>
      </p:cxnSp>
      <p:sp>
        <p:nvSpPr>
          <p:cNvPr id="280" name="TextBox 25"/>
          <p:cNvSpPr/>
          <p:nvPr/>
        </p:nvSpPr>
        <p:spPr>
          <a:xfrm>
            <a:off x="10241280" y="641916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Segoe UI"/>
              </a:rPr>
              <a:t>CRM Dental · Agentic RAG     08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Rectangle 1"/>
          <p:cNvSpPr/>
          <p:nvPr/>
        </p:nvSpPr>
        <p:spPr>
          <a:xfrm>
            <a:off x="0" y="0"/>
            <a:ext cx="200880" cy="685764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2" name="Rectangle 2"/>
          <p:cNvSpPr/>
          <p:nvPr/>
        </p:nvSpPr>
        <p:spPr>
          <a:xfrm>
            <a:off x="548640" y="502920"/>
            <a:ext cx="502560" cy="10944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TextBox 3"/>
          <p:cNvSpPr/>
          <p:nvPr/>
        </p:nvSpPr>
        <p:spPr>
          <a:xfrm>
            <a:off x="548640" y="65844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300" b="1" u="none" strike="noStrike">
                <a:solidFill>
                  <a:srgbClr val="0f766e"/>
                </a:solidFill>
                <a:effectLst/>
                <a:uFillTx/>
                <a:latin typeface="Segoe UI"/>
              </a:rPr>
              <a:t>EXEMPLO PRÁTICO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4"/>
          <p:cNvSpPr/>
          <p:nvPr/>
        </p:nvSpPr>
        <p:spPr>
          <a:xfrm>
            <a:off x="530280" y="96012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30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Fluxo de uma pergunta no chat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Rounded Rectangle 5"/>
          <p:cNvSpPr/>
          <p:nvPr/>
        </p:nvSpPr>
        <p:spPr>
          <a:xfrm>
            <a:off x="548640" y="1600200"/>
            <a:ext cx="7314840" cy="63972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“Qual foi a última queixa de dor do paciente João?”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Rounded Rectangle 6"/>
          <p:cNvSpPr/>
          <p:nvPr/>
        </p:nvSpPr>
        <p:spPr>
          <a:xfrm>
            <a:off x="548640" y="2514600"/>
            <a:ext cx="7314840" cy="71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Rectangle 7"/>
          <p:cNvSpPr/>
          <p:nvPr/>
        </p:nvSpPr>
        <p:spPr>
          <a:xfrm>
            <a:off x="548640" y="2514600"/>
            <a:ext cx="82080" cy="71280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8" name="Rounded Rectangle 8"/>
          <p:cNvSpPr/>
          <p:nvPr/>
        </p:nvSpPr>
        <p:spPr>
          <a:xfrm>
            <a:off x="749880" y="264276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🧭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9"/>
          <p:cNvSpPr/>
          <p:nvPr/>
        </p:nvSpPr>
        <p:spPr>
          <a:xfrm>
            <a:off x="1417320" y="2587680"/>
            <a:ext cx="23770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5000"/>
              </a:lnSpc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Orquestrador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10"/>
          <p:cNvSpPr/>
          <p:nvPr/>
        </p:nvSpPr>
        <p:spPr>
          <a:xfrm>
            <a:off x="3749040" y="2587680"/>
            <a:ext cx="39315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recebe e roteia a intenção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11"/>
          <p:cNvSpPr/>
          <p:nvPr/>
        </p:nvSpPr>
        <p:spPr>
          <a:xfrm>
            <a:off x="548640" y="2514600"/>
            <a:ext cx="3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2" name="Connector 12"/>
          <p:cNvCxnSpPr/>
          <p:nvPr/>
        </p:nvCxnSpPr>
        <p:spPr>
          <a:xfrm>
            <a:off x="978120" y="3227760"/>
            <a:ext cx="360" cy="110160"/>
          </a:xfrm>
          <a:prstGeom prst="straightConnector1">
            <a:avLst/>
          </a:prstGeom>
          <a:ln w="19050">
            <a:solidFill>
              <a:srgbClr val="94a3b8"/>
            </a:solidFill>
            <a:round/>
            <a:tailEnd len="med" type="triangle" w="med"/>
          </a:ln>
        </p:spPr>
      </p:cxnSp>
      <p:sp>
        <p:nvSpPr>
          <p:cNvPr id="293" name="Rounded Rectangle 13"/>
          <p:cNvSpPr/>
          <p:nvPr/>
        </p:nvSpPr>
        <p:spPr>
          <a:xfrm>
            <a:off x="548640" y="3337560"/>
            <a:ext cx="7314840" cy="71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4" name="Rectangle 14"/>
          <p:cNvSpPr/>
          <p:nvPr/>
        </p:nvSpPr>
        <p:spPr>
          <a:xfrm>
            <a:off x="548640" y="3337560"/>
            <a:ext cx="82080" cy="71280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Rounded Rectangle 15"/>
          <p:cNvSpPr/>
          <p:nvPr/>
        </p:nvSpPr>
        <p:spPr>
          <a:xfrm>
            <a:off x="749880" y="346572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👤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16"/>
          <p:cNvSpPr/>
          <p:nvPr/>
        </p:nvSpPr>
        <p:spPr>
          <a:xfrm>
            <a:off x="1417320" y="3410640"/>
            <a:ext cx="23770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5000"/>
              </a:lnSpc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Identifica paciente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17"/>
          <p:cNvSpPr/>
          <p:nvPr/>
        </p:nvSpPr>
        <p:spPr>
          <a:xfrm>
            <a:off x="3749040" y="3410640"/>
            <a:ext cx="39315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resolve o paciente “João”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18"/>
          <p:cNvSpPr/>
          <p:nvPr/>
        </p:nvSpPr>
        <p:spPr>
          <a:xfrm>
            <a:off x="548640" y="3337560"/>
            <a:ext cx="3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9" name="Connector 19"/>
          <p:cNvCxnSpPr/>
          <p:nvPr/>
        </p:nvCxnSpPr>
        <p:spPr>
          <a:xfrm>
            <a:off x="978120" y="4050720"/>
            <a:ext cx="360" cy="110160"/>
          </a:xfrm>
          <a:prstGeom prst="straightConnector1">
            <a:avLst/>
          </a:prstGeom>
          <a:ln w="19050">
            <a:solidFill>
              <a:srgbClr val="94a3b8"/>
            </a:solidFill>
            <a:round/>
            <a:tailEnd len="med" type="triangle" w="med"/>
          </a:ln>
        </p:spPr>
      </p:cxnSp>
      <p:sp>
        <p:nvSpPr>
          <p:cNvPr id="300" name="Rounded Rectangle 20"/>
          <p:cNvSpPr/>
          <p:nvPr/>
        </p:nvSpPr>
        <p:spPr>
          <a:xfrm>
            <a:off x="548640" y="4160520"/>
            <a:ext cx="7314840" cy="71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1" name="Rectangle 21"/>
          <p:cNvSpPr/>
          <p:nvPr/>
        </p:nvSpPr>
        <p:spPr>
          <a:xfrm>
            <a:off x="548640" y="4160520"/>
            <a:ext cx="82080" cy="71280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2" name="Rounded Rectangle 22"/>
          <p:cNvSpPr/>
          <p:nvPr/>
        </p:nvSpPr>
        <p:spPr>
          <a:xfrm>
            <a:off x="749880" y="428868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🗄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23"/>
          <p:cNvSpPr/>
          <p:nvPr/>
        </p:nvSpPr>
        <p:spPr>
          <a:xfrm>
            <a:off x="1417320" y="4233600"/>
            <a:ext cx="23770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5000"/>
              </a:lnSpc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Busca no banco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24"/>
          <p:cNvSpPr/>
          <p:nvPr/>
        </p:nvSpPr>
        <p:spPr>
          <a:xfrm>
            <a:off x="3749040" y="4233600"/>
            <a:ext cx="39315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consulta dados + recupera notas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25"/>
          <p:cNvSpPr/>
          <p:nvPr/>
        </p:nvSpPr>
        <p:spPr>
          <a:xfrm>
            <a:off x="548640" y="4160520"/>
            <a:ext cx="3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6" name="Connector 26"/>
          <p:cNvCxnSpPr/>
          <p:nvPr/>
        </p:nvCxnSpPr>
        <p:spPr>
          <a:xfrm>
            <a:off x="978120" y="4873680"/>
            <a:ext cx="360" cy="110160"/>
          </a:xfrm>
          <a:prstGeom prst="straightConnector1">
            <a:avLst/>
          </a:prstGeom>
          <a:ln w="19050">
            <a:solidFill>
              <a:srgbClr val="94a3b8"/>
            </a:solidFill>
            <a:round/>
            <a:tailEnd len="med" type="triangle" w="med"/>
          </a:ln>
        </p:spPr>
      </p:cxnSp>
      <p:sp>
        <p:nvSpPr>
          <p:cNvPr id="307" name="Rounded Rectangle 27"/>
          <p:cNvSpPr/>
          <p:nvPr/>
        </p:nvSpPr>
        <p:spPr>
          <a:xfrm>
            <a:off x="548640" y="4983480"/>
            <a:ext cx="7314840" cy="71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8" name="Rectangle 28"/>
          <p:cNvSpPr/>
          <p:nvPr/>
        </p:nvSpPr>
        <p:spPr>
          <a:xfrm>
            <a:off x="548640" y="4983480"/>
            <a:ext cx="82080" cy="71280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9" name="Rounded Rectangle 29"/>
          <p:cNvSpPr/>
          <p:nvPr/>
        </p:nvSpPr>
        <p:spPr>
          <a:xfrm>
            <a:off x="749880" y="511164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✔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30"/>
          <p:cNvSpPr/>
          <p:nvPr/>
        </p:nvSpPr>
        <p:spPr>
          <a:xfrm>
            <a:off x="1417320" y="5056560"/>
            <a:ext cx="23770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5000"/>
              </a:lnSpc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Avalia evidência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31"/>
          <p:cNvSpPr/>
          <p:nvPr/>
        </p:nvSpPr>
        <p:spPr>
          <a:xfrm>
            <a:off x="3749040" y="5056560"/>
            <a:ext cx="39315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verifica se o contexto basta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Box 32"/>
          <p:cNvSpPr/>
          <p:nvPr/>
        </p:nvSpPr>
        <p:spPr>
          <a:xfrm>
            <a:off x="548640" y="4983480"/>
            <a:ext cx="3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3" name="Connector 33"/>
          <p:cNvCxnSpPr/>
          <p:nvPr/>
        </p:nvCxnSpPr>
        <p:spPr>
          <a:xfrm>
            <a:off x="978120" y="5696640"/>
            <a:ext cx="360" cy="110160"/>
          </a:xfrm>
          <a:prstGeom prst="straightConnector1">
            <a:avLst/>
          </a:prstGeom>
          <a:ln w="19050">
            <a:solidFill>
              <a:srgbClr val="94a3b8"/>
            </a:solidFill>
            <a:round/>
            <a:tailEnd len="med" type="triangle" w="med"/>
          </a:ln>
        </p:spPr>
      </p:cxnSp>
      <p:sp>
        <p:nvSpPr>
          <p:cNvPr id="314" name="Rounded Rectangle 34"/>
          <p:cNvSpPr/>
          <p:nvPr/>
        </p:nvSpPr>
        <p:spPr>
          <a:xfrm>
            <a:off x="548640" y="5806440"/>
            <a:ext cx="7314840" cy="71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5" name="Rectangle 35"/>
          <p:cNvSpPr/>
          <p:nvPr/>
        </p:nvSpPr>
        <p:spPr>
          <a:xfrm>
            <a:off x="548640" y="5806440"/>
            <a:ext cx="82080" cy="71280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6" name="Rounded Rectangle 36"/>
          <p:cNvSpPr/>
          <p:nvPr/>
        </p:nvSpPr>
        <p:spPr>
          <a:xfrm>
            <a:off x="749880" y="593460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✍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Box 37"/>
          <p:cNvSpPr/>
          <p:nvPr/>
        </p:nvSpPr>
        <p:spPr>
          <a:xfrm>
            <a:off x="1417320" y="5879520"/>
            <a:ext cx="23770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5000"/>
              </a:lnSpc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Gera resposta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38"/>
          <p:cNvSpPr/>
          <p:nvPr/>
        </p:nvSpPr>
        <p:spPr>
          <a:xfrm>
            <a:off x="3749040" y="5879520"/>
            <a:ext cx="39315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com as fontes citadas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39"/>
          <p:cNvSpPr/>
          <p:nvPr/>
        </p:nvSpPr>
        <p:spPr>
          <a:xfrm>
            <a:off x="548640" y="5806440"/>
            <a:ext cx="3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Rounded Rectangle 40"/>
          <p:cNvSpPr/>
          <p:nvPr/>
        </p:nvSpPr>
        <p:spPr>
          <a:xfrm>
            <a:off x="8229600" y="2514600"/>
            <a:ext cx="3382920" cy="3657240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55960" rIns="228600" tIns="2286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✅ Resposta fundamentada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“A última queixa de dor de João foi em 12/03, dor no molar inferior direito, registrada na anamnese.”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1100" b="0" i="1" u="none" strike="noStrike">
                <a:solidFill>
                  <a:srgbClr val="ecfeff"/>
                </a:solidFill>
                <a:effectLst/>
                <a:uFillTx/>
                <a:latin typeface="Segoe UI"/>
              </a:rPr>
              <a:t>Fontes: Anamnese 12/03 · Evolução clínica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Box 41"/>
          <p:cNvSpPr/>
          <p:nvPr/>
        </p:nvSpPr>
        <p:spPr>
          <a:xfrm>
            <a:off x="10241280" y="641916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Segoe UI"/>
              </a:rPr>
              <a:t>CRM Dental · Agentic RAG     09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Rectangle 1"/>
          <p:cNvSpPr/>
          <p:nvPr/>
        </p:nvSpPr>
        <p:spPr>
          <a:xfrm>
            <a:off x="0" y="0"/>
            <a:ext cx="200880" cy="685764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3" name="Rectangle 2"/>
          <p:cNvSpPr/>
          <p:nvPr/>
        </p:nvSpPr>
        <p:spPr>
          <a:xfrm>
            <a:off x="548640" y="502920"/>
            <a:ext cx="502560" cy="10944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4" name="TextBox 3"/>
          <p:cNvSpPr/>
          <p:nvPr/>
        </p:nvSpPr>
        <p:spPr>
          <a:xfrm>
            <a:off x="548640" y="65844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300" b="1" u="none" strike="noStrike">
                <a:solidFill>
                  <a:srgbClr val="0f766e"/>
                </a:solidFill>
                <a:effectLst/>
                <a:uFillTx/>
                <a:latin typeface="Segoe UI"/>
              </a:rPr>
              <a:t>COMPONENTES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4"/>
          <p:cNvSpPr/>
          <p:nvPr/>
        </p:nvSpPr>
        <p:spPr>
          <a:xfrm>
            <a:off x="530280" y="96012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30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Os agentes do sistema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5"/>
          <p:cNvSpPr/>
          <p:nvPr/>
        </p:nvSpPr>
        <p:spPr>
          <a:xfrm>
            <a:off x="548640" y="157284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4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Cada agente tem uma responsabilidade única e bem definida.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27" name="Table 6"/>
          <p:cNvGraphicFramePr/>
          <p:nvPr/>
        </p:nvGraphicFramePr>
        <p:xfrm>
          <a:off x="548640" y="2148840"/>
          <a:ext cx="11063880" cy="385848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457200">
                <a:tc>
                  <a:txBody>
                    <a:bodyPr lIns="109440" rIns="73080"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Agente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 lIns="109440" rIns="73080" tIns="36360" bIns="36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Responsabilidade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766e"/>
                    </a:solidFill>
                  </a:tcPr>
                </a:tc>
              </a:tr>
              <a:tr h="566640"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Segoe UI"/>
                        </a:rPr>
                        <a:t>🧭  Orquestrador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5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Decide os próximos passos e coordena o fluxo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Segoe UI"/>
                        </a:rPr>
                        <a:t>🔎  Retriever Agent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5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Busca documentos relevantes no banco vetorial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66640"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Segoe UI"/>
                        </a:rPr>
                        <a:t>🗄  SQL Agent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5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Consulta dados estruturados no PostgreSQL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Segoe UI"/>
                        </a:rPr>
                        <a:t>✔  Evaluator Agent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5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Valida a relevância do contexto recuperado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66640"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Segoe UI"/>
                        </a:rPr>
                        <a:t>🛠  Tool Agent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5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Chama o calendário e APIs externas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Segoe UI"/>
                        </a:rPr>
                        <a:t>✍  Answer Agent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5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Gera a resposta final com fontes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28" name="TextBox 7"/>
          <p:cNvSpPr/>
          <p:nvPr/>
        </p:nvSpPr>
        <p:spPr>
          <a:xfrm>
            <a:off x="10241280" y="641916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Segoe UI"/>
              </a:rPr>
              <a:t>CRM Dental · Agentic RAG     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Rectangle 1"/>
          <p:cNvSpPr/>
          <p:nvPr/>
        </p:nvSpPr>
        <p:spPr>
          <a:xfrm>
            <a:off x="0" y="0"/>
            <a:ext cx="200880" cy="685764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0" name="Rectangle 2"/>
          <p:cNvSpPr/>
          <p:nvPr/>
        </p:nvSpPr>
        <p:spPr>
          <a:xfrm>
            <a:off x="548640" y="502920"/>
            <a:ext cx="502560" cy="10944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1" name="TextBox 3"/>
          <p:cNvSpPr/>
          <p:nvPr/>
        </p:nvSpPr>
        <p:spPr>
          <a:xfrm>
            <a:off x="548640" y="65844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300" b="1" u="none" strike="noStrike">
                <a:solidFill>
                  <a:srgbClr val="0f766e"/>
                </a:solidFill>
                <a:effectLst/>
                <a:uFillTx/>
                <a:latin typeface="Segoe UI"/>
              </a:rPr>
              <a:t>ENGENHARIA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Box 4"/>
          <p:cNvSpPr/>
          <p:nvPr/>
        </p:nvSpPr>
        <p:spPr>
          <a:xfrm>
            <a:off x="530280" y="96012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30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Como o agente foi elaborado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Box 5"/>
          <p:cNvSpPr/>
          <p:nvPr/>
        </p:nvSpPr>
        <p:spPr>
          <a:xfrm>
            <a:off x="548640" y="157284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4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Módulo NestJS (src/agent) onde cada agente é um service injetável, coordenado por uma máquina de estados.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34" name="Table 6"/>
          <p:cNvGraphicFramePr/>
          <p:nvPr/>
        </p:nvGraphicFramePr>
        <p:xfrm>
          <a:off x="548640" y="2011680"/>
          <a:ext cx="11063880" cy="4260600"/>
        </p:xfrm>
        <a:graphic>
          <a:graphicData uri="http://schemas.openxmlformats.org/drawingml/2006/table">
            <a:tbl>
              <a:tblPr/>
              <a:tblGrid>
                <a:gridCol w="2651760"/>
                <a:gridCol w="3566160"/>
                <a:gridCol w="4846320"/>
              </a:tblGrid>
              <a:tr h="457200">
                <a:tc>
                  <a:txBody>
                    <a:bodyPr lIns="109440" rIns="73080"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Módulo (src/agent)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 lIns="109440" rIns="73080" tIns="36360" bIns="36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Service (agente)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 lIns="109440" rIns="73080" tIns="36360" bIns="36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Papel técnico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766e"/>
                    </a:solidFill>
                  </a:tcPr>
                </a:tc>
              </a:tr>
              <a:tr h="475200"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Segoe UI"/>
                        </a:rPr>
                        <a:t>orchestrator/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AgentOrchestrator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Máquina de estados / loop de controle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Segoe UI"/>
                        </a:rPr>
                        <a:t>router/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IntentRouterService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Classifica a intenção em 6 classes + confiança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75200"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Segoe UI"/>
                        </a:rPr>
                        <a:t>planner/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QueryRewriter · QueryPlanner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Normaliza, expande e decompõe a pergunta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Segoe UI"/>
                        </a:rPr>
                        <a:t>tools/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ToolRegistry · RetrieverTool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Ferramentas tipadas e permissionadas (DI)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75200"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Segoe UI"/>
                        </a:rPr>
                        <a:t>evaluators/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ContextEvaluatorService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Decide se o contexto recuperado é suficiente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Segoe UI"/>
                        </a:rPr>
                        <a:t>generators/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AnswerGeneratorService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Geração streamada (SSE) com citações inline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75200"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Segoe UI"/>
                        </a:rPr>
                        <a:t>verifiers/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AnswerVerifierService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Checa fundamentação (groundedness) das claims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Segoe UI"/>
                        </a:rPr>
                        <a:t>guardrails/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SanitizerService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Anti-prompt-injection + escopo de dados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35" name="TextBox 7"/>
          <p:cNvSpPr/>
          <p:nvPr/>
        </p:nvSpPr>
        <p:spPr>
          <a:xfrm>
            <a:off x="548640" y="61905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1" u="none" strike="noStrike">
                <a:solidFill>
                  <a:srgbClr val="0f766e"/>
                </a:solidFill>
                <a:effectLst/>
                <a:uFillTx/>
                <a:latin typeface="Segoe UI"/>
              </a:rPr>
              <a:t>Princípio: </a:t>
            </a: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responsabilidade única por agente + injeção de dependência + feature flags para ligar/desligar cada capacidade de forma incremental.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Box 8"/>
          <p:cNvSpPr/>
          <p:nvPr/>
        </p:nvSpPr>
        <p:spPr>
          <a:xfrm>
            <a:off x="10241280" y="641916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Segoe UI"/>
              </a:rPr>
              <a:t>CRM Dental · Agentic RAG     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1"/>
          <p:cNvSpPr/>
          <p:nvPr/>
        </p:nvSpPr>
        <p:spPr>
          <a:xfrm>
            <a:off x="0" y="0"/>
            <a:ext cx="200880" cy="685764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8" name="Rectangle 2"/>
          <p:cNvSpPr/>
          <p:nvPr/>
        </p:nvSpPr>
        <p:spPr>
          <a:xfrm>
            <a:off x="548640" y="502920"/>
            <a:ext cx="502560" cy="10944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9" name="TextBox 3"/>
          <p:cNvSpPr/>
          <p:nvPr/>
        </p:nvSpPr>
        <p:spPr>
          <a:xfrm>
            <a:off x="548640" y="65844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300" b="1" u="none" strike="noStrike">
                <a:solidFill>
                  <a:srgbClr val="0f766e"/>
                </a:solidFill>
                <a:effectLst/>
                <a:uFillTx/>
                <a:latin typeface="Segoe UI"/>
              </a:rPr>
              <a:t>CONTROLE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4"/>
          <p:cNvSpPr/>
          <p:nvPr/>
        </p:nvSpPr>
        <p:spPr>
          <a:xfrm>
            <a:off x="530280" y="96012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30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O loop de orquestração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Box 5"/>
          <p:cNvSpPr/>
          <p:nvPr/>
        </p:nvSpPr>
        <p:spPr>
          <a:xfrm>
            <a:off x="548640" y="157284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4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Máquina de estados determinística com correção iterativa e orçamento (budget).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Rounded Rectangle 6"/>
          <p:cNvSpPr/>
          <p:nvPr/>
        </p:nvSpPr>
        <p:spPr>
          <a:xfrm>
            <a:off x="371880" y="2971800"/>
            <a:ext cx="1462680" cy="105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Segoe UI"/>
              </a:rPr>
              <a:t>🧼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Sanitizar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Rectangle 7"/>
          <p:cNvSpPr/>
          <p:nvPr/>
        </p:nvSpPr>
        <p:spPr>
          <a:xfrm>
            <a:off x="371880" y="2971800"/>
            <a:ext cx="1462680" cy="10008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344" name="Connector 8"/>
          <p:cNvCxnSpPr/>
          <p:nvPr/>
        </p:nvCxnSpPr>
        <p:spPr>
          <a:xfrm>
            <a:off x="1834560" y="3497400"/>
            <a:ext cx="201600" cy="360"/>
          </a:xfrm>
          <a:prstGeom prst="straightConnector1">
            <a:avLst/>
          </a:prstGeom>
          <a:ln>
            <a:solidFill>
              <a:srgbClr val="94a3b8"/>
            </a:solidFill>
            <a:round/>
            <a:tailEnd len="med" type="triangle" w="med"/>
          </a:ln>
        </p:spPr>
      </p:cxnSp>
      <p:sp>
        <p:nvSpPr>
          <p:cNvPr id="345" name="Rounded Rectangle 9"/>
          <p:cNvSpPr/>
          <p:nvPr/>
        </p:nvSpPr>
        <p:spPr>
          <a:xfrm>
            <a:off x="2035800" y="2971800"/>
            <a:ext cx="1462680" cy="105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Segoe UI"/>
              </a:rPr>
              <a:t>🧭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Rotear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Rectangle 10"/>
          <p:cNvSpPr/>
          <p:nvPr/>
        </p:nvSpPr>
        <p:spPr>
          <a:xfrm>
            <a:off x="2035800" y="2971800"/>
            <a:ext cx="1462680" cy="10008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347" name="Connector 11"/>
          <p:cNvCxnSpPr/>
          <p:nvPr/>
        </p:nvCxnSpPr>
        <p:spPr>
          <a:xfrm>
            <a:off x="3498840" y="3497400"/>
            <a:ext cx="201600" cy="360"/>
          </a:xfrm>
          <a:prstGeom prst="straightConnector1">
            <a:avLst/>
          </a:prstGeom>
          <a:ln>
            <a:solidFill>
              <a:srgbClr val="94a3b8"/>
            </a:solidFill>
            <a:round/>
            <a:tailEnd len="med" type="triangle" w="med"/>
          </a:ln>
        </p:spPr>
      </p:cxnSp>
      <p:sp>
        <p:nvSpPr>
          <p:cNvPr id="348" name="Rounded Rectangle 12"/>
          <p:cNvSpPr/>
          <p:nvPr/>
        </p:nvSpPr>
        <p:spPr>
          <a:xfrm>
            <a:off x="3700080" y="2971800"/>
            <a:ext cx="1462680" cy="105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Segoe UI"/>
              </a:rPr>
              <a:t>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Recuperar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Rectangle 13"/>
          <p:cNvSpPr/>
          <p:nvPr/>
        </p:nvSpPr>
        <p:spPr>
          <a:xfrm>
            <a:off x="3700080" y="2971800"/>
            <a:ext cx="1462680" cy="10008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350" name="Connector 14"/>
          <p:cNvCxnSpPr/>
          <p:nvPr/>
        </p:nvCxnSpPr>
        <p:spPr>
          <a:xfrm>
            <a:off x="5163120" y="3497400"/>
            <a:ext cx="201240" cy="360"/>
          </a:xfrm>
          <a:prstGeom prst="straightConnector1">
            <a:avLst/>
          </a:prstGeom>
          <a:ln>
            <a:solidFill>
              <a:srgbClr val="94a3b8"/>
            </a:solidFill>
            <a:round/>
            <a:tailEnd len="med" type="triangle" w="med"/>
          </a:ln>
        </p:spPr>
      </p:cxnSp>
      <p:sp>
        <p:nvSpPr>
          <p:cNvPr id="351" name="Rounded Rectangle 15"/>
          <p:cNvSpPr/>
          <p:nvPr/>
        </p:nvSpPr>
        <p:spPr>
          <a:xfrm>
            <a:off x="5364360" y="2971800"/>
            <a:ext cx="1462680" cy="105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Segoe UI"/>
              </a:rPr>
              <a:t>✔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Avaliar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Rectangle 16"/>
          <p:cNvSpPr/>
          <p:nvPr/>
        </p:nvSpPr>
        <p:spPr>
          <a:xfrm>
            <a:off x="5364360" y="2971800"/>
            <a:ext cx="1462680" cy="10008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353" name="Connector 17"/>
          <p:cNvCxnSpPr/>
          <p:nvPr/>
        </p:nvCxnSpPr>
        <p:spPr>
          <a:xfrm>
            <a:off x="6827040" y="3497400"/>
            <a:ext cx="201600" cy="360"/>
          </a:xfrm>
          <a:prstGeom prst="straightConnector1">
            <a:avLst/>
          </a:prstGeom>
          <a:ln>
            <a:solidFill>
              <a:srgbClr val="94a3b8"/>
            </a:solidFill>
            <a:round/>
            <a:tailEnd len="med" type="triangle" w="med"/>
          </a:ln>
        </p:spPr>
      </p:cxnSp>
      <p:sp>
        <p:nvSpPr>
          <p:cNvPr id="354" name="Rounded Rectangle 18"/>
          <p:cNvSpPr/>
          <p:nvPr/>
        </p:nvSpPr>
        <p:spPr>
          <a:xfrm>
            <a:off x="7028640" y="2971800"/>
            <a:ext cx="1462680" cy="105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Segoe UI"/>
              </a:rPr>
              <a:t>🧠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Gerar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Rectangle 19"/>
          <p:cNvSpPr/>
          <p:nvPr/>
        </p:nvSpPr>
        <p:spPr>
          <a:xfrm>
            <a:off x="7028640" y="2971800"/>
            <a:ext cx="1462680" cy="100080"/>
          </a:xfrm>
          <a:prstGeom prst="rect">
            <a:avLst/>
          </a:prstGeom>
          <a:solidFill>
            <a:srgbClr val="0b52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356" name="Connector 20"/>
          <p:cNvCxnSpPr/>
          <p:nvPr/>
        </p:nvCxnSpPr>
        <p:spPr>
          <a:xfrm>
            <a:off x="8491320" y="3497400"/>
            <a:ext cx="201600" cy="360"/>
          </a:xfrm>
          <a:prstGeom prst="straightConnector1">
            <a:avLst/>
          </a:prstGeom>
          <a:ln>
            <a:solidFill>
              <a:srgbClr val="94a3b8"/>
            </a:solidFill>
            <a:round/>
            <a:tailEnd len="med" type="triangle" w="med"/>
          </a:ln>
        </p:spPr>
      </p:cxnSp>
      <p:sp>
        <p:nvSpPr>
          <p:cNvPr id="357" name="Rounded Rectangle 21"/>
          <p:cNvSpPr/>
          <p:nvPr/>
        </p:nvSpPr>
        <p:spPr>
          <a:xfrm>
            <a:off x="8692920" y="2971800"/>
            <a:ext cx="1462680" cy="105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Segoe UI"/>
              </a:rPr>
              <a:t>🛡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Verificar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Rectangle 22"/>
          <p:cNvSpPr/>
          <p:nvPr/>
        </p:nvSpPr>
        <p:spPr>
          <a:xfrm>
            <a:off x="8692920" y="2971800"/>
            <a:ext cx="1462680" cy="100080"/>
          </a:xfrm>
          <a:prstGeom prst="rect">
            <a:avLst/>
          </a:prstGeom>
          <a:solidFill>
            <a:srgbClr val="0b52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359" name="Connector 23"/>
          <p:cNvCxnSpPr/>
          <p:nvPr/>
        </p:nvCxnSpPr>
        <p:spPr>
          <a:xfrm>
            <a:off x="10155600" y="3497400"/>
            <a:ext cx="201600" cy="360"/>
          </a:xfrm>
          <a:prstGeom prst="straightConnector1">
            <a:avLst/>
          </a:prstGeom>
          <a:ln>
            <a:solidFill>
              <a:srgbClr val="94a3b8"/>
            </a:solidFill>
            <a:round/>
            <a:tailEnd len="med" type="triangle" w="med"/>
          </a:ln>
        </p:spPr>
      </p:cxnSp>
      <p:sp>
        <p:nvSpPr>
          <p:cNvPr id="360" name="Rounded Rectangle 24"/>
          <p:cNvSpPr/>
          <p:nvPr/>
        </p:nvSpPr>
        <p:spPr>
          <a:xfrm>
            <a:off x="10356840" y="2971800"/>
            <a:ext cx="1462680" cy="105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Segoe UI"/>
              </a:rPr>
              <a:t>🗄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Persistir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Rectangle 25"/>
          <p:cNvSpPr/>
          <p:nvPr/>
        </p:nvSpPr>
        <p:spPr>
          <a:xfrm>
            <a:off x="10356840" y="2971800"/>
            <a:ext cx="1462680" cy="10008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362" name="Connector 26"/>
          <p:cNvCxnSpPr/>
          <p:nvPr/>
        </p:nvCxnSpPr>
        <p:spPr>
          <a:xfrm flipV="1">
            <a:off x="6095520" y="2468880"/>
            <a:ext cx="360" cy="503280"/>
          </a:xfrm>
          <a:prstGeom prst="straightConnector1">
            <a:avLst/>
          </a:prstGeom>
          <a:ln w="20320">
            <a:solidFill>
              <a:srgbClr val="d97706"/>
            </a:solidFill>
            <a:round/>
          </a:ln>
        </p:spPr>
      </p:cxnSp>
      <p:cxnSp>
        <p:nvCxnSpPr>
          <p:cNvPr id="363" name="Connector 27"/>
          <p:cNvCxnSpPr/>
          <p:nvPr/>
        </p:nvCxnSpPr>
        <p:spPr>
          <a:xfrm flipH="1">
            <a:off x="4431600" y="2468880"/>
            <a:ext cx="1664280" cy="360"/>
          </a:xfrm>
          <a:prstGeom prst="straightConnector1">
            <a:avLst/>
          </a:prstGeom>
          <a:ln w="20320">
            <a:solidFill>
              <a:srgbClr val="d97706"/>
            </a:solidFill>
            <a:round/>
          </a:ln>
        </p:spPr>
      </p:cxnSp>
      <p:cxnSp>
        <p:nvCxnSpPr>
          <p:cNvPr id="364" name="Connector 28"/>
          <p:cNvCxnSpPr/>
          <p:nvPr/>
        </p:nvCxnSpPr>
        <p:spPr>
          <a:xfrm>
            <a:off x="4431600" y="2468880"/>
            <a:ext cx="360" cy="503280"/>
          </a:xfrm>
          <a:prstGeom prst="straightConnector1">
            <a:avLst/>
          </a:prstGeom>
          <a:ln w="22860">
            <a:solidFill>
              <a:srgbClr val="d97706"/>
            </a:solidFill>
            <a:round/>
            <a:tailEnd len="med" type="triangle" w="med"/>
          </a:ln>
        </p:spPr>
      </p:cxnSp>
      <p:sp>
        <p:nvSpPr>
          <p:cNvPr id="365" name="TextBox 29"/>
          <p:cNvSpPr/>
          <p:nvPr/>
        </p:nvSpPr>
        <p:spPr>
          <a:xfrm>
            <a:off x="3242880" y="208476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lang="en-US" sz="1100" b="1" u="none" strike="noStrike">
                <a:solidFill>
                  <a:srgbClr val="d97706"/>
                </a:solidFill>
                <a:effectLst/>
                <a:uFillTx/>
                <a:latin typeface="Segoe UI"/>
              </a:rPr>
              <a:t>contexto insuficiente → reescreve a query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Rounded Rectangle 30"/>
          <p:cNvSpPr/>
          <p:nvPr/>
        </p:nvSpPr>
        <p:spPr>
          <a:xfrm>
            <a:off x="1280160" y="4617720"/>
            <a:ext cx="9600840" cy="1416960"/>
          </a:xfrm>
          <a:prstGeom prst="roundRect">
            <a:avLst>
              <a:gd name="adj" fmla="val 16667"/>
            </a:avLst>
          </a:prstGeom>
          <a:solidFill>
            <a:srgbClr val="ecfe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20040" rIns="2743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b524b"/>
                </a:solidFill>
                <a:effectLst/>
                <a:uFillTx/>
                <a:latin typeface="Segoe UI"/>
              </a:rPr>
              <a:t>⏱  Orçamento por execução (budget)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maxLlmCalls (3)  ·  maxRetrievalAttempts  ·  maxWallClockMs (15 s) — limitam custo e latência; ao estourar, o loop é cortado e o sistema cai em um fallback seguro de “evidência insuficiente”.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Box 31"/>
          <p:cNvSpPr/>
          <p:nvPr/>
        </p:nvSpPr>
        <p:spPr>
          <a:xfrm>
            <a:off x="10241280" y="641916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Segoe UI"/>
              </a:rPr>
              <a:t>CRM Dental · Agentic RAG     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Rectangle 1"/>
          <p:cNvSpPr/>
          <p:nvPr/>
        </p:nvSpPr>
        <p:spPr>
          <a:xfrm>
            <a:off x="0" y="0"/>
            <a:ext cx="200880" cy="685764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9" name="Rectangle 2"/>
          <p:cNvSpPr/>
          <p:nvPr/>
        </p:nvSpPr>
        <p:spPr>
          <a:xfrm>
            <a:off x="548640" y="502920"/>
            <a:ext cx="502560" cy="10944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0" name="TextBox 3"/>
          <p:cNvSpPr/>
          <p:nvPr/>
        </p:nvSpPr>
        <p:spPr>
          <a:xfrm>
            <a:off x="548640" y="65844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300" b="1" u="none" strike="noStrike">
                <a:solidFill>
                  <a:srgbClr val="0f766e"/>
                </a:solidFill>
                <a:effectLst/>
                <a:uFillTx/>
                <a:latin typeface="Segoe UI"/>
              </a:rPr>
              <a:t>CONFIABILIDADE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Box 4"/>
          <p:cNvSpPr/>
          <p:nvPr/>
        </p:nvSpPr>
        <p:spPr>
          <a:xfrm>
            <a:off x="530280" y="96012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30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Fundamentação, validação e segurança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Box 5"/>
          <p:cNvSpPr/>
          <p:nvPr/>
        </p:nvSpPr>
        <p:spPr>
          <a:xfrm>
            <a:off x="548640" y="157284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4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Os mecanismos técnicos que tornam a resposta confiável e o sistema seguro.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Rounded Rectangle 6"/>
          <p:cNvSpPr/>
          <p:nvPr/>
        </p:nvSpPr>
        <p:spPr>
          <a:xfrm>
            <a:off x="548640" y="2103120"/>
            <a:ext cx="3520080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4" name="Rectangle 7"/>
          <p:cNvSpPr/>
          <p:nvPr/>
        </p:nvSpPr>
        <p:spPr>
          <a:xfrm>
            <a:off x="548640" y="2103120"/>
            <a:ext cx="91080" cy="155412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5" name="Rounded Rectangle 8"/>
          <p:cNvSpPr/>
          <p:nvPr/>
        </p:nvSpPr>
        <p:spPr>
          <a:xfrm>
            <a:off x="804600" y="226764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✔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Box 9"/>
          <p:cNvSpPr/>
          <p:nvPr/>
        </p:nvSpPr>
        <p:spPr>
          <a:xfrm>
            <a:off x="804600" y="28162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ContextEvaluator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Box 10"/>
          <p:cNvSpPr/>
          <p:nvPr/>
        </p:nvSpPr>
        <p:spPr>
          <a:xfrm>
            <a:off x="804600" y="318204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Retorna { sufficient, missing[], suggestedQuery } e dispara o loop corretivo.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Rounded Rectangle 11"/>
          <p:cNvSpPr/>
          <p:nvPr/>
        </p:nvSpPr>
        <p:spPr>
          <a:xfrm>
            <a:off x="4270320" y="2103120"/>
            <a:ext cx="3520080" cy="1554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9" name="Rectangle 12"/>
          <p:cNvSpPr/>
          <p:nvPr/>
        </p:nvSpPr>
        <p:spPr>
          <a:xfrm>
            <a:off x="4270320" y="2103120"/>
            <a:ext cx="91080" cy="155412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0" name="Rounded Rectangle 13"/>
          <p:cNvSpPr/>
          <p:nvPr/>
        </p:nvSpPr>
        <p:spPr>
          <a:xfrm>
            <a:off x="4526280" y="226764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🛡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Box 14"/>
          <p:cNvSpPr/>
          <p:nvPr/>
        </p:nvSpPr>
        <p:spPr>
          <a:xfrm>
            <a:off x="4526280" y="28162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AnswerVerifier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Box 15"/>
          <p:cNvSpPr/>
          <p:nvPr/>
        </p:nvSpPr>
        <p:spPr>
          <a:xfrm>
            <a:off x="4526280" y="318204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Groundedness por similaridade, exige ≥1 citação e remove claims sem suporte.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Rounded Rectangle 16"/>
          <p:cNvSpPr/>
          <p:nvPr/>
        </p:nvSpPr>
        <p:spPr>
          <a:xfrm>
            <a:off x="7992000" y="2103120"/>
            <a:ext cx="3520080" cy="1554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4" name="Rectangle 17"/>
          <p:cNvSpPr/>
          <p:nvPr/>
        </p:nvSpPr>
        <p:spPr>
          <a:xfrm>
            <a:off x="7992000" y="2103120"/>
            <a:ext cx="91080" cy="155412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5" name="Rounded Rectangle 18"/>
          <p:cNvSpPr/>
          <p:nvPr/>
        </p:nvSpPr>
        <p:spPr>
          <a:xfrm>
            <a:off x="8247960" y="226764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📊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Box 19"/>
          <p:cNvSpPr/>
          <p:nvPr/>
        </p:nvSpPr>
        <p:spPr>
          <a:xfrm>
            <a:off x="8247960" y="28162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Métricas RAG-Triad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Box 20"/>
          <p:cNvSpPr/>
          <p:nvPr/>
        </p:nvSpPr>
        <p:spPr>
          <a:xfrm>
            <a:off x="8247960" y="318204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Context relevance · groundedness · answer relevance por resposta.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Rounded Rectangle 21"/>
          <p:cNvSpPr/>
          <p:nvPr/>
        </p:nvSpPr>
        <p:spPr>
          <a:xfrm>
            <a:off x="594720" y="3932280"/>
            <a:ext cx="3520080" cy="1554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9" name="Rectangle 22"/>
          <p:cNvSpPr/>
          <p:nvPr/>
        </p:nvSpPr>
        <p:spPr>
          <a:xfrm>
            <a:off x="548640" y="3858840"/>
            <a:ext cx="91080" cy="1554120"/>
          </a:xfrm>
          <a:prstGeom prst="rect">
            <a:avLst/>
          </a:prstGeom>
          <a:solidFill>
            <a:srgbClr val="0b52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0" name="Rounded Rectangle 23"/>
          <p:cNvSpPr/>
          <p:nvPr/>
        </p:nvSpPr>
        <p:spPr>
          <a:xfrm>
            <a:off x="804600" y="402336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0b52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🔐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Box 24"/>
          <p:cNvSpPr/>
          <p:nvPr/>
        </p:nvSpPr>
        <p:spPr>
          <a:xfrm>
            <a:off x="804600" y="457200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Trust boundary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Box 25"/>
          <p:cNvSpPr/>
          <p:nvPr/>
        </p:nvSpPr>
        <p:spPr>
          <a:xfrm>
            <a:off x="804600" y="493776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JWT → ClinicScope → PatientScope: isolamento por clínica e paciente.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Rounded Rectangle 26"/>
          <p:cNvSpPr/>
          <p:nvPr/>
        </p:nvSpPr>
        <p:spPr>
          <a:xfrm>
            <a:off x="4270320" y="3858840"/>
            <a:ext cx="3520080" cy="1554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4" name="Rectangle 27"/>
          <p:cNvSpPr/>
          <p:nvPr/>
        </p:nvSpPr>
        <p:spPr>
          <a:xfrm>
            <a:off x="4270320" y="3858840"/>
            <a:ext cx="91080" cy="155412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5" name="Rounded Rectangle 28"/>
          <p:cNvSpPr/>
          <p:nvPr/>
        </p:nvSpPr>
        <p:spPr>
          <a:xfrm>
            <a:off x="4526280" y="402336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🧼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Box 29"/>
          <p:cNvSpPr/>
          <p:nvPr/>
        </p:nvSpPr>
        <p:spPr>
          <a:xfrm>
            <a:off x="4526280" y="457200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Sanitizer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Box 30"/>
          <p:cNvSpPr/>
          <p:nvPr/>
        </p:nvSpPr>
        <p:spPr>
          <a:xfrm>
            <a:off x="4526280" y="493776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Neutraliza padrões de prompt injection antes de chegar ao LLM.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Rounded Rectangle 31"/>
          <p:cNvSpPr/>
          <p:nvPr/>
        </p:nvSpPr>
        <p:spPr>
          <a:xfrm>
            <a:off x="7992000" y="3858840"/>
            <a:ext cx="3520080" cy="1554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9" name="Rectangle 32"/>
          <p:cNvSpPr/>
          <p:nvPr/>
        </p:nvSpPr>
        <p:spPr>
          <a:xfrm>
            <a:off x="7992000" y="3858840"/>
            <a:ext cx="91080" cy="155412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0" name="Rounded Rectangle 33"/>
          <p:cNvSpPr/>
          <p:nvPr/>
        </p:nvSpPr>
        <p:spPr>
          <a:xfrm>
            <a:off x="8247960" y="402336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🤝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Box 34"/>
          <p:cNvSpPr/>
          <p:nvPr/>
        </p:nvSpPr>
        <p:spPr>
          <a:xfrm>
            <a:off x="8247960" y="457200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Preview → Commit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Box 35"/>
          <p:cNvSpPr/>
          <p:nvPr/>
        </p:nvSpPr>
        <p:spPr>
          <a:xfrm>
            <a:off x="8247960" y="493776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Toda ação que altera dados exige confirmação humana explícita.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Box 36"/>
          <p:cNvSpPr/>
          <p:nvPr/>
        </p:nvSpPr>
        <p:spPr>
          <a:xfrm>
            <a:off x="10241280" y="641916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Segoe UI"/>
              </a:rPr>
              <a:t>CRM Dental · Agentic RAG     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Rectangle 1"/>
          <p:cNvSpPr/>
          <p:nvPr/>
        </p:nvSpPr>
        <p:spPr>
          <a:xfrm>
            <a:off x="0" y="0"/>
            <a:ext cx="200880" cy="685764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5" name="Rectangle 2"/>
          <p:cNvSpPr/>
          <p:nvPr/>
        </p:nvSpPr>
        <p:spPr>
          <a:xfrm>
            <a:off x="548640" y="502920"/>
            <a:ext cx="502560" cy="10944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6" name="TextBox 3"/>
          <p:cNvSpPr/>
          <p:nvPr/>
        </p:nvSpPr>
        <p:spPr>
          <a:xfrm>
            <a:off x="548640" y="65844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300" b="1" u="none" strike="noStrike">
                <a:solidFill>
                  <a:srgbClr val="0f766e"/>
                </a:solidFill>
                <a:effectLst/>
                <a:uFillTx/>
                <a:latin typeface="Segoe UI"/>
              </a:rPr>
              <a:t>IMPACTO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Box 4"/>
          <p:cNvSpPr/>
          <p:nvPr/>
        </p:nvSpPr>
        <p:spPr>
          <a:xfrm>
            <a:off x="530280" y="96012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30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Como o agente faz a diferença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Box 5"/>
          <p:cNvSpPr/>
          <p:nvPr/>
        </p:nvSpPr>
        <p:spPr>
          <a:xfrm>
            <a:off x="548640" y="157284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4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Cada mecanismo resolve uma limitação concreta do RAG linear.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09" name="Table 6"/>
          <p:cNvGraphicFramePr/>
          <p:nvPr/>
        </p:nvGraphicFramePr>
        <p:xfrm>
          <a:off x="548640" y="2103120"/>
          <a:ext cx="11063880" cy="3748680"/>
        </p:xfrm>
        <a:graphic>
          <a:graphicData uri="http://schemas.openxmlformats.org/drawingml/2006/table">
            <a:tbl>
              <a:tblPr/>
              <a:tblGrid>
                <a:gridCol w="3108960"/>
                <a:gridCol w="3657600"/>
                <a:gridCol w="4297680"/>
              </a:tblGrid>
              <a:tr h="457200">
                <a:tc>
                  <a:txBody>
                    <a:bodyPr lIns="109440" rIns="73080"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Mecanismo do agente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 lIns="109440" rIns="73080" tIns="36360" bIns="36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Limitação do RAG linear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 lIns="109440" rIns="73080" tIns="36360" bIns="36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Efeito técnico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766e"/>
                    </a:solidFill>
                  </a:tcPr>
                </a:tc>
              </a:tr>
              <a:tr h="658080"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Segoe UI"/>
                        </a:rPr>
                        <a:t>Loop recuperar ↔ avaliar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Recuperação única, sem 2ª chance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Recall maior; contexto corrigido em runtime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f9ef"/>
                    </a:solidFill>
                  </a:tcPr>
                </a:tc>
              </a:tr>
              <a:tr h="658080"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Segoe UI"/>
                        </a:rPr>
                        <a:t>IntentRouter + Planner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Não decompõe perguntas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Perguntas multi-etapa são atendidas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f9ef"/>
                    </a:solidFill>
                  </a:tcPr>
                </a:tc>
              </a:tr>
              <a:tr h="658080"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Segoe UI"/>
                        </a:rPr>
                        <a:t>ToolRegistry tipado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Não usa ferramentas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Consulta SQL / calendário sob demanda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f9ef"/>
                    </a:solidFill>
                  </a:tcPr>
                </a:tc>
              </a:tr>
              <a:tr h="658080"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Segoe UI"/>
                        </a:rPr>
                        <a:t>Verifier + citações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Não valida a resposta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Menos alucinação; resposta rastreável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f9ef"/>
                    </a:solidFill>
                  </a:tcPr>
                </a:tc>
              </a:tr>
              <a:tr h="658080"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Segoe UI"/>
                        </a:rPr>
                        <a:t>Orçamento + tracing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Caixa-preta, custo solto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ef3ec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Latência/custo sob controle e auditáveis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f9ef"/>
                    </a:solidFill>
                  </a:tcPr>
                </a:tc>
              </a:tr>
            </a:tbl>
          </a:graphicData>
        </a:graphic>
      </p:graphicFrame>
      <p:sp>
        <p:nvSpPr>
          <p:cNvPr id="410" name="TextBox 7"/>
          <p:cNvSpPr/>
          <p:nvPr/>
        </p:nvSpPr>
        <p:spPr>
          <a:xfrm>
            <a:off x="548640" y="598932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1" u="none" strike="noStrike">
                <a:solidFill>
                  <a:srgbClr val="0f766e"/>
                </a:solidFill>
                <a:effectLst/>
                <a:uFillTx/>
                <a:latin typeface="Segoe UI"/>
              </a:rPr>
              <a:t>Em uma frase: </a:t>
            </a: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o agente troca um pipeline fixo por um controlador que planeja, recupera, valida e prova — com custo limitado e rastreável.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Box 8"/>
          <p:cNvSpPr/>
          <p:nvPr/>
        </p:nvSpPr>
        <p:spPr>
          <a:xfrm>
            <a:off x="10241280" y="641916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Segoe UI"/>
              </a:rPr>
              <a:t>CRM Dental · Agentic RAG     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Rectangle 1"/>
          <p:cNvSpPr/>
          <p:nvPr/>
        </p:nvSpPr>
        <p:spPr>
          <a:xfrm>
            <a:off x="0" y="0"/>
            <a:ext cx="200880" cy="685764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3" name="Rectangle 2"/>
          <p:cNvSpPr/>
          <p:nvPr/>
        </p:nvSpPr>
        <p:spPr>
          <a:xfrm>
            <a:off x="548640" y="502920"/>
            <a:ext cx="502560" cy="10944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4" name="TextBox 3"/>
          <p:cNvSpPr/>
          <p:nvPr/>
        </p:nvSpPr>
        <p:spPr>
          <a:xfrm>
            <a:off x="548640" y="65844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300" b="1" u="none" strike="noStrike">
                <a:solidFill>
                  <a:srgbClr val="0f766e"/>
                </a:solidFill>
                <a:effectLst/>
                <a:uFillTx/>
                <a:latin typeface="Segoe UI"/>
              </a:rPr>
              <a:t>DECISÕES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Box 4"/>
          <p:cNvSpPr/>
          <p:nvPr/>
        </p:nvSpPr>
        <p:spPr>
          <a:xfrm>
            <a:off x="530280" y="96012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30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Escolhas técnicas: prós e contras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5"/>
          <p:cNvSpPr/>
          <p:nvPr/>
        </p:nvSpPr>
        <p:spPr>
          <a:xfrm>
            <a:off x="548640" y="157284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4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Comparações que guiaram a stack do MVP acadêmico.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17" name="Table 6"/>
          <p:cNvGraphicFramePr/>
          <p:nvPr/>
        </p:nvGraphicFramePr>
        <p:xfrm>
          <a:off x="548640" y="2148840"/>
          <a:ext cx="11063880" cy="3456000"/>
        </p:xfrm>
        <a:graphic>
          <a:graphicData uri="http://schemas.openxmlformats.org/drawingml/2006/table">
            <a:tbl>
              <a:tblPr/>
              <a:tblGrid>
                <a:gridCol w="2286000"/>
                <a:gridCol w="4389120"/>
                <a:gridCol w="4389120"/>
              </a:tblGrid>
              <a:tr h="457200">
                <a:tc>
                  <a:txBody>
                    <a:bodyPr lIns="109440" rIns="73080"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Decisão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 lIns="109440" rIns="73080" tIns="36360" bIns="36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Opção A — vantagem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 lIns="109440" rIns="73080" tIns="36360" bIns="36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Opção B — trade-off</a:t>
                      </a:r>
                      <a:endParaRPr lang="en-US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766e"/>
                    </a:solidFill>
                  </a:tcPr>
                </a:tc>
              </a:tr>
              <a:tr h="749520"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Segoe UI"/>
                        </a:rPr>
                        <a:t>Banco vetorial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pgvector: simples, reusa o Postgres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f9ef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Qdrant/Redis: mais escala, infra extra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ef3ec"/>
                    </a:solidFill>
                  </a:tcPr>
                </a:tc>
              </a:tr>
              <a:tr h="749520"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Segoe UI"/>
                        </a:rPr>
                        <a:t>LLM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OpenAI/Claude: qualidade e facilidade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f9ef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Ollama local: privacidade e custo zero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ef3ec"/>
                    </a:solidFill>
                  </a:tcPr>
                </a:tc>
              </a:tr>
              <a:tr h="749520"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Segoe UI"/>
                        </a:rPr>
                        <a:t>Backend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NestJS: produtivo, ecossistema TS/Node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f9ef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Go: performance, menos boilerplate ORM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ef3ec"/>
                    </a:solidFill>
                  </a:tcPr>
                </a:tc>
              </a:tr>
              <a:tr h="749520">
                <a:tc>
                  <a:txBody>
                    <a:bodyPr lIns="109440" rIns="73080" tIns="27360" bIns="27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Segoe UI"/>
                        </a:rPr>
                        <a:t>Abordagem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RAG simples: rápido e barato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f9ef"/>
                    </a:solidFill>
                  </a:tcPr>
                </a:tc>
                <a:tc>
                  <a:txBody>
                    <a:bodyPr lIns="109440" rIns="73080" tIns="27360" bIns="27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Segoe UI"/>
                        </a:rPr>
                        <a:t>Agentic RAG: robusto, porém complexo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73080" marT="27360" marB="27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ef3ec"/>
                    </a:solidFill>
                  </a:tcPr>
                </a:tc>
              </a:tr>
            </a:tbl>
          </a:graphicData>
        </a:graphic>
      </p:graphicFrame>
      <p:sp>
        <p:nvSpPr>
          <p:cNvPr id="418" name="TextBox 7"/>
          <p:cNvSpPr/>
          <p:nvPr/>
        </p:nvSpPr>
        <p:spPr>
          <a:xfrm>
            <a:off x="548640" y="58978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1" u="none" strike="noStrike">
                <a:solidFill>
                  <a:srgbClr val="0f766e"/>
                </a:solidFill>
                <a:effectLst/>
                <a:uFillTx/>
                <a:latin typeface="Segoe UI"/>
              </a:rPr>
              <a:t>No MVP priorizamos simplicidade e privacidade: </a:t>
            </a: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pgvector + Ollama local + NestJS, com Agentic RAG mínimo e flags para ativar recursos gradualmente.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Box 8"/>
          <p:cNvSpPr/>
          <p:nvPr/>
        </p:nvSpPr>
        <p:spPr>
          <a:xfrm>
            <a:off x="10241280" y="641916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Segoe UI"/>
              </a:rPr>
              <a:t>CRM Dental · Agentic RAG     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Rectangle 1"/>
          <p:cNvSpPr/>
          <p:nvPr/>
        </p:nvSpPr>
        <p:spPr>
          <a:xfrm>
            <a:off x="0" y="0"/>
            <a:ext cx="200880" cy="685764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1" name="Rectangle 2"/>
          <p:cNvSpPr/>
          <p:nvPr/>
        </p:nvSpPr>
        <p:spPr>
          <a:xfrm>
            <a:off x="548640" y="502920"/>
            <a:ext cx="502560" cy="10944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2" name="TextBox 3"/>
          <p:cNvSpPr/>
          <p:nvPr/>
        </p:nvSpPr>
        <p:spPr>
          <a:xfrm>
            <a:off x="548640" y="65844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300" b="1" u="none" strike="noStrike">
                <a:solidFill>
                  <a:srgbClr val="0f766e"/>
                </a:solidFill>
                <a:effectLst/>
                <a:uFillTx/>
                <a:latin typeface="Segoe UI"/>
              </a:rPr>
              <a:t>BENEFÍCIOS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Box 4"/>
          <p:cNvSpPr/>
          <p:nvPr/>
        </p:nvSpPr>
        <p:spPr>
          <a:xfrm>
            <a:off x="530280" y="96012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30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Vantagens do Agentic RAG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Box 5"/>
          <p:cNvSpPr/>
          <p:nvPr/>
        </p:nvSpPr>
        <p:spPr>
          <a:xfrm>
            <a:off x="548640" y="157284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4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Por que vale a pena a complexidade adicional.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Rounded Rectangle 6"/>
          <p:cNvSpPr/>
          <p:nvPr/>
        </p:nvSpPr>
        <p:spPr>
          <a:xfrm>
            <a:off x="548640" y="2148840"/>
            <a:ext cx="352008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6" name="Rectangle 7"/>
          <p:cNvSpPr/>
          <p:nvPr/>
        </p:nvSpPr>
        <p:spPr>
          <a:xfrm>
            <a:off x="548640" y="2148840"/>
            <a:ext cx="91080" cy="137124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7" name="Rounded Rectangle 8"/>
          <p:cNvSpPr/>
          <p:nvPr/>
        </p:nvSpPr>
        <p:spPr>
          <a:xfrm>
            <a:off x="804600" y="231336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🎯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Box 9"/>
          <p:cNvSpPr/>
          <p:nvPr/>
        </p:nvSpPr>
        <p:spPr>
          <a:xfrm>
            <a:off x="804600" y="286200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Melhor recuperação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Box 10"/>
          <p:cNvSpPr/>
          <p:nvPr/>
        </p:nvSpPr>
        <p:spPr>
          <a:xfrm>
            <a:off x="804600" y="322776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Busca iterativa e corretiva do contexto.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Rounded Rectangle 11"/>
          <p:cNvSpPr/>
          <p:nvPr/>
        </p:nvSpPr>
        <p:spPr>
          <a:xfrm>
            <a:off x="4270320" y="2148840"/>
            <a:ext cx="352008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1" name="Rectangle 12"/>
          <p:cNvSpPr/>
          <p:nvPr/>
        </p:nvSpPr>
        <p:spPr>
          <a:xfrm>
            <a:off x="4270320" y="2148840"/>
            <a:ext cx="91080" cy="137124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2" name="Rounded Rectangle 13"/>
          <p:cNvSpPr/>
          <p:nvPr/>
        </p:nvSpPr>
        <p:spPr>
          <a:xfrm>
            <a:off x="4526280" y="231336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🧩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Box 14"/>
          <p:cNvSpPr/>
          <p:nvPr/>
        </p:nvSpPr>
        <p:spPr>
          <a:xfrm>
            <a:off x="4526280" y="286200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Múltiplas etapas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Box 15"/>
          <p:cNvSpPr/>
          <p:nvPr/>
        </p:nvSpPr>
        <p:spPr>
          <a:xfrm>
            <a:off x="4526280" y="322776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Decompõe perguntas complexas em passos.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Rounded Rectangle 16"/>
          <p:cNvSpPr/>
          <p:nvPr/>
        </p:nvSpPr>
        <p:spPr>
          <a:xfrm>
            <a:off x="7992000" y="2148840"/>
            <a:ext cx="352008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6" name="Rectangle 17"/>
          <p:cNvSpPr/>
          <p:nvPr/>
        </p:nvSpPr>
        <p:spPr>
          <a:xfrm>
            <a:off x="7992000" y="2148840"/>
            <a:ext cx="91080" cy="137124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7" name="Rounded Rectangle 18"/>
          <p:cNvSpPr/>
          <p:nvPr/>
        </p:nvSpPr>
        <p:spPr>
          <a:xfrm>
            <a:off x="8247960" y="231336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🛡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Box 19"/>
          <p:cNvSpPr/>
          <p:nvPr/>
        </p:nvSpPr>
        <p:spPr>
          <a:xfrm>
            <a:off x="8247960" y="286200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Menos alucinação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Box 20"/>
          <p:cNvSpPr/>
          <p:nvPr/>
        </p:nvSpPr>
        <p:spPr>
          <a:xfrm>
            <a:off x="8247960" y="322776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Validação de evidência antes de responder.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Rounded Rectangle 21"/>
          <p:cNvSpPr/>
          <p:nvPr/>
        </p:nvSpPr>
        <p:spPr>
          <a:xfrm>
            <a:off x="548640" y="3703320"/>
            <a:ext cx="3566160" cy="155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1" name="Rectangle 22"/>
          <p:cNvSpPr/>
          <p:nvPr/>
        </p:nvSpPr>
        <p:spPr>
          <a:xfrm>
            <a:off x="548640" y="3703320"/>
            <a:ext cx="91080" cy="137124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2" name="Rounded Rectangle 23"/>
          <p:cNvSpPr/>
          <p:nvPr/>
        </p:nvSpPr>
        <p:spPr>
          <a:xfrm>
            <a:off x="804600" y="386784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🛠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Box 24"/>
          <p:cNvSpPr/>
          <p:nvPr/>
        </p:nvSpPr>
        <p:spPr>
          <a:xfrm>
            <a:off x="804600" y="44164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Ferramentas dinâmicas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Box 25"/>
          <p:cNvSpPr/>
          <p:nvPr/>
        </p:nvSpPr>
        <p:spPr>
          <a:xfrm>
            <a:off x="804600" y="478224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Escolhe banco, calendário ou API conforme a tarefa.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Rounded Rectangle 26"/>
          <p:cNvSpPr/>
          <p:nvPr/>
        </p:nvSpPr>
        <p:spPr>
          <a:xfrm>
            <a:off x="4270320" y="3703320"/>
            <a:ext cx="352008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6" name="Rectangle 27"/>
          <p:cNvSpPr/>
          <p:nvPr/>
        </p:nvSpPr>
        <p:spPr>
          <a:xfrm>
            <a:off x="4270320" y="3703320"/>
            <a:ext cx="91080" cy="137124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7" name="Rounded Rectangle 28"/>
          <p:cNvSpPr/>
          <p:nvPr/>
        </p:nvSpPr>
        <p:spPr>
          <a:xfrm>
            <a:off x="4526280" y="386784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🔍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Box 29"/>
          <p:cNvSpPr/>
          <p:nvPr/>
        </p:nvSpPr>
        <p:spPr>
          <a:xfrm>
            <a:off x="4526280" y="44164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Explicabilidade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Box 30"/>
          <p:cNvSpPr/>
          <p:nvPr/>
        </p:nvSpPr>
        <p:spPr>
          <a:xfrm>
            <a:off x="4526280" y="478224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Mostra o raciocínio e cita as fontes.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Rounded Rectangle 31"/>
          <p:cNvSpPr/>
          <p:nvPr/>
        </p:nvSpPr>
        <p:spPr>
          <a:xfrm>
            <a:off x="7992000" y="3703320"/>
            <a:ext cx="3438000" cy="155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1" name="Rectangle 32"/>
          <p:cNvSpPr/>
          <p:nvPr/>
        </p:nvSpPr>
        <p:spPr>
          <a:xfrm>
            <a:off x="7992000" y="3703320"/>
            <a:ext cx="91080" cy="137124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2" name="Rounded Rectangle 33"/>
          <p:cNvSpPr/>
          <p:nvPr/>
        </p:nvSpPr>
        <p:spPr>
          <a:xfrm>
            <a:off x="8247960" y="386784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⚙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Box 34"/>
          <p:cNvSpPr/>
          <p:nvPr/>
        </p:nvSpPr>
        <p:spPr>
          <a:xfrm>
            <a:off x="8247960" y="44164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Tarefas complexas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Box 35"/>
          <p:cNvSpPr/>
          <p:nvPr/>
        </p:nvSpPr>
        <p:spPr>
          <a:xfrm>
            <a:off x="8247960" y="478224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Adequado a fluxos de trabalho reais da clínica.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Box 36"/>
          <p:cNvSpPr/>
          <p:nvPr/>
        </p:nvSpPr>
        <p:spPr>
          <a:xfrm>
            <a:off x="10241280" y="641916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Segoe UI"/>
              </a:rPr>
              <a:t>CRM Dental · Agentic RAG     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Rectangle 1"/>
          <p:cNvSpPr/>
          <p:nvPr/>
        </p:nvSpPr>
        <p:spPr>
          <a:xfrm>
            <a:off x="0" y="0"/>
            <a:ext cx="200880" cy="685764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7" name="Rectangle 2"/>
          <p:cNvSpPr/>
          <p:nvPr/>
        </p:nvSpPr>
        <p:spPr>
          <a:xfrm>
            <a:off x="548640" y="502920"/>
            <a:ext cx="502560" cy="10944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8" name="TextBox 3"/>
          <p:cNvSpPr/>
          <p:nvPr/>
        </p:nvSpPr>
        <p:spPr>
          <a:xfrm>
            <a:off x="548640" y="65844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300" b="1" u="none" strike="noStrike">
                <a:solidFill>
                  <a:srgbClr val="0f766e"/>
                </a:solidFill>
                <a:effectLst/>
                <a:uFillTx/>
                <a:latin typeface="Segoe UI"/>
              </a:rPr>
              <a:t>RISCOS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Box 4"/>
          <p:cNvSpPr/>
          <p:nvPr/>
        </p:nvSpPr>
        <p:spPr>
          <a:xfrm>
            <a:off x="530280" y="96012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30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Desvantagens e riscos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Box 5"/>
          <p:cNvSpPr/>
          <p:nvPr/>
        </p:nvSpPr>
        <p:spPr>
          <a:xfrm>
            <a:off x="548640" y="157284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4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Trade-offs que precisam ser gerenciados conscientemente.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Rounded Rectangle 6"/>
          <p:cNvSpPr/>
          <p:nvPr/>
        </p:nvSpPr>
        <p:spPr>
          <a:xfrm>
            <a:off x="548640" y="2148840"/>
            <a:ext cx="352008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2" name="Rectangle 7"/>
          <p:cNvSpPr/>
          <p:nvPr/>
        </p:nvSpPr>
        <p:spPr>
          <a:xfrm>
            <a:off x="548640" y="2148840"/>
            <a:ext cx="91080" cy="137124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3" name="Rounded Rectangle 8"/>
          <p:cNvSpPr/>
          <p:nvPr/>
        </p:nvSpPr>
        <p:spPr>
          <a:xfrm>
            <a:off x="804600" y="231336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🧱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Box 9"/>
          <p:cNvSpPr/>
          <p:nvPr/>
        </p:nvSpPr>
        <p:spPr>
          <a:xfrm>
            <a:off x="804600" y="286200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Maior complexidade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Box 10"/>
          <p:cNvSpPr/>
          <p:nvPr/>
        </p:nvSpPr>
        <p:spPr>
          <a:xfrm>
            <a:off x="804600" y="322776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Mais componentes para construir e manter.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Rounded Rectangle 11"/>
          <p:cNvSpPr/>
          <p:nvPr/>
        </p:nvSpPr>
        <p:spPr>
          <a:xfrm>
            <a:off x="4270320" y="2148840"/>
            <a:ext cx="352008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7" name="Rectangle 12"/>
          <p:cNvSpPr/>
          <p:nvPr/>
        </p:nvSpPr>
        <p:spPr>
          <a:xfrm>
            <a:off x="4270320" y="2148840"/>
            <a:ext cx="91080" cy="137124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8" name="Rounded Rectangle 13"/>
          <p:cNvSpPr/>
          <p:nvPr/>
        </p:nvSpPr>
        <p:spPr>
          <a:xfrm>
            <a:off x="4526280" y="231336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💸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Box 14"/>
          <p:cNvSpPr/>
          <p:nvPr/>
        </p:nvSpPr>
        <p:spPr>
          <a:xfrm>
            <a:off x="4526280" y="286200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Mais custo de tokens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Box 15"/>
          <p:cNvSpPr/>
          <p:nvPr/>
        </p:nvSpPr>
        <p:spPr>
          <a:xfrm>
            <a:off x="4526280" y="322776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Múltiplas chamadas ao LLM por pergunta.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Rounded Rectangle 16"/>
          <p:cNvSpPr/>
          <p:nvPr/>
        </p:nvSpPr>
        <p:spPr>
          <a:xfrm>
            <a:off x="7992000" y="2148840"/>
            <a:ext cx="352008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2" name="Rectangle 17"/>
          <p:cNvSpPr/>
          <p:nvPr/>
        </p:nvSpPr>
        <p:spPr>
          <a:xfrm>
            <a:off x="7992000" y="2148840"/>
            <a:ext cx="91080" cy="137124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3" name="Rounded Rectangle 18"/>
          <p:cNvSpPr/>
          <p:nvPr/>
        </p:nvSpPr>
        <p:spPr>
          <a:xfrm>
            <a:off x="8247960" y="231336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⏱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Box 19"/>
          <p:cNvSpPr/>
          <p:nvPr/>
        </p:nvSpPr>
        <p:spPr>
          <a:xfrm>
            <a:off x="8247960" y="286200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Maior latência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Box 20"/>
          <p:cNvSpPr/>
          <p:nvPr/>
        </p:nvSpPr>
        <p:spPr>
          <a:xfrm>
            <a:off x="8247960" y="322776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Etapas extras aumentam o tempo de resposta.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Rounded Rectangle 21"/>
          <p:cNvSpPr/>
          <p:nvPr/>
        </p:nvSpPr>
        <p:spPr>
          <a:xfrm>
            <a:off x="548640" y="3703320"/>
            <a:ext cx="352008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7" name="Rectangle 22"/>
          <p:cNvSpPr/>
          <p:nvPr/>
        </p:nvSpPr>
        <p:spPr>
          <a:xfrm>
            <a:off x="548640" y="3703320"/>
            <a:ext cx="91080" cy="137124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8" name="Rounded Rectangle 23"/>
          <p:cNvSpPr/>
          <p:nvPr/>
        </p:nvSpPr>
        <p:spPr>
          <a:xfrm>
            <a:off x="804600" y="386784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📉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Box 24"/>
          <p:cNvSpPr/>
          <p:nvPr/>
        </p:nvSpPr>
        <p:spPr>
          <a:xfrm>
            <a:off x="804600" y="44164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Observabilidade difícil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Box 25"/>
          <p:cNvSpPr/>
          <p:nvPr/>
        </p:nvSpPr>
        <p:spPr>
          <a:xfrm>
            <a:off x="804600" y="478224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Rastrear decisões de vários agentes é complexo.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Rounded Rectangle 26"/>
          <p:cNvSpPr/>
          <p:nvPr/>
        </p:nvSpPr>
        <p:spPr>
          <a:xfrm>
            <a:off x="4270320" y="3703320"/>
            <a:ext cx="352008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2" name="Rectangle 27"/>
          <p:cNvSpPr/>
          <p:nvPr/>
        </p:nvSpPr>
        <p:spPr>
          <a:xfrm>
            <a:off x="4270320" y="3703320"/>
            <a:ext cx="91080" cy="137124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3" name="Rounded Rectangle 28"/>
          <p:cNvSpPr/>
          <p:nvPr/>
        </p:nvSpPr>
        <p:spPr>
          <a:xfrm>
            <a:off x="4526280" y="386784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🔐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Box 29"/>
          <p:cNvSpPr/>
          <p:nvPr/>
        </p:nvSpPr>
        <p:spPr>
          <a:xfrm>
            <a:off x="4526280" y="44164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Controle de permissões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Box 30"/>
          <p:cNvSpPr/>
          <p:nvPr/>
        </p:nvSpPr>
        <p:spPr>
          <a:xfrm>
            <a:off x="4526280" y="478224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Isolar dados por paciente é obrigatório.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Rounded Rectangle 31"/>
          <p:cNvSpPr/>
          <p:nvPr/>
        </p:nvSpPr>
        <p:spPr>
          <a:xfrm>
            <a:off x="7992000" y="3703320"/>
            <a:ext cx="352008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7" name="Rectangle 32"/>
          <p:cNvSpPr/>
          <p:nvPr/>
        </p:nvSpPr>
        <p:spPr>
          <a:xfrm>
            <a:off x="7992000" y="3703320"/>
            <a:ext cx="91080" cy="137124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8" name="Rounded Rectangle 33"/>
          <p:cNvSpPr/>
          <p:nvPr/>
        </p:nvSpPr>
        <p:spPr>
          <a:xfrm>
            <a:off x="8247960" y="3867840"/>
            <a:ext cx="456840" cy="456840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🚫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Box 34"/>
          <p:cNvSpPr/>
          <p:nvPr/>
        </p:nvSpPr>
        <p:spPr>
          <a:xfrm>
            <a:off x="8247960" y="44164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Ações indevidas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Box 35"/>
          <p:cNvSpPr/>
          <p:nvPr/>
        </p:nvSpPr>
        <p:spPr>
          <a:xfrm>
            <a:off x="8247960" y="478224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Risco de agentes agirem sem confirmação.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Box 36"/>
          <p:cNvSpPr/>
          <p:nvPr/>
        </p:nvSpPr>
        <p:spPr>
          <a:xfrm>
            <a:off x="10241280" y="641916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Segoe UI"/>
              </a:rPr>
              <a:t>CRM Dental · Agentic RAG     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Rectangle 1"/>
          <p:cNvSpPr/>
          <p:nvPr/>
        </p:nvSpPr>
        <p:spPr>
          <a:xfrm>
            <a:off x="0" y="0"/>
            <a:ext cx="200880" cy="685764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3" name="Rectangle 2"/>
          <p:cNvSpPr/>
          <p:nvPr/>
        </p:nvSpPr>
        <p:spPr>
          <a:xfrm>
            <a:off x="548640" y="502920"/>
            <a:ext cx="502560" cy="10944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4" name="TextBox 3"/>
          <p:cNvSpPr/>
          <p:nvPr/>
        </p:nvSpPr>
        <p:spPr>
          <a:xfrm>
            <a:off x="548640" y="65844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300" b="1" u="none" strike="noStrike">
                <a:solidFill>
                  <a:srgbClr val="0f766e"/>
                </a:solidFill>
                <a:effectLst/>
                <a:uFillTx/>
                <a:latin typeface="Segoe UI"/>
              </a:rPr>
              <a:t>DELIMITAÇÃO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Box 4"/>
          <p:cNvSpPr/>
          <p:nvPr/>
        </p:nvSpPr>
        <p:spPr>
          <a:xfrm>
            <a:off x="530280" y="960120"/>
            <a:ext cx="10972440" cy="48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30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Escopo do MVP 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Box 5"/>
          <p:cNvSpPr/>
          <p:nvPr/>
        </p:nvSpPr>
        <p:spPr>
          <a:xfrm>
            <a:off x="548640" y="157284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4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O que entra e o que fica de fora, conscientemente.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Rounded Rectangle 6"/>
          <p:cNvSpPr/>
          <p:nvPr/>
        </p:nvSpPr>
        <p:spPr>
          <a:xfrm>
            <a:off x="548640" y="2103120"/>
            <a:ext cx="5440320" cy="402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8" name="Rectangle 7"/>
          <p:cNvSpPr/>
          <p:nvPr/>
        </p:nvSpPr>
        <p:spPr>
          <a:xfrm>
            <a:off x="548640" y="2103120"/>
            <a:ext cx="5440320" cy="56664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9" name="TextBox 8"/>
          <p:cNvSpPr/>
          <p:nvPr/>
        </p:nvSpPr>
        <p:spPr>
          <a:xfrm>
            <a:off x="822960" y="221292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✅  Incluído no MVP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Box 9"/>
          <p:cNvSpPr/>
          <p:nvPr/>
        </p:nvSpPr>
        <p:spPr>
          <a:xfrm>
            <a:off x="868680" y="2880360"/>
            <a:ext cx="484596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5000"/>
              </a:lnSpc>
              <a:spcAft>
                <a:spcPts val="1199"/>
              </a:spcAft>
            </a:pPr>
            <a:r>
              <a:rPr lang="en-US" sz="1050" b="1" u="none" strike="noStrike">
                <a:solidFill>
                  <a:srgbClr val="16a34a"/>
                </a:solidFill>
                <a:effectLst/>
                <a:uFillTx/>
                <a:latin typeface="Segoe UI"/>
              </a:rPr>
              <a:t>●  </a:t>
            </a:r>
            <a:r>
              <a:rPr lang="en-US" sz="14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Cadastro de pacientes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199"/>
              </a:spcAft>
            </a:pPr>
            <a:r>
              <a:rPr lang="en-US" sz="1050" b="1" u="none" strike="noStrike">
                <a:solidFill>
                  <a:srgbClr val="16a34a"/>
                </a:solidFill>
                <a:effectLst/>
                <a:uFillTx/>
                <a:latin typeface="Segoe UI"/>
              </a:rPr>
              <a:t>●  </a:t>
            </a:r>
            <a:r>
              <a:rPr lang="en-US" sz="14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Histórico clínico textual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199"/>
              </a:spcAft>
            </a:pPr>
            <a:r>
              <a:rPr lang="en-US" sz="1050" b="1" u="none" strike="noStrike">
                <a:solidFill>
                  <a:srgbClr val="16a34a"/>
                </a:solidFill>
                <a:effectLst/>
                <a:uFillTx/>
                <a:latin typeface="Segoe UI"/>
              </a:rPr>
              <a:t>●  </a:t>
            </a:r>
            <a:r>
              <a:rPr lang="en-US" sz="14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Chat com RAG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199"/>
              </a:spcAft>
            </a:pPr>
            <a:r>
              <a:rPr lang="en-US" sz="1050" b="1" u="none" strike="noStrike">
                <a:solidFill>
                  <a:srgbClr val="16a34a"/>
                </a:solidFill>
                <a:effectLst/>
                <a:uFillTx/>
                <a:latin typeface="Segoe UI"/>
              </a:rPr>
              <a:t>●  </a:t>
            </a:r>
            <a:r>
              <a:rPr lang="en-US" sz="14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Busca semântica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199"/>
              </a:spcAft>
            </a:pPr>
            <a:r>
              <a:rPr lang="en-US" sz="1050" b="1" u="none" strike="noStrike">
                <a:solidFill>
                  <a:srgbClr val="16a34a"/>
                </a:solidFill>
                <a:effectLst/>
                <a:uFillTx/>
                <a:latin typeface="Segoe UI"/>
              </a:rPr>
              <a:t>●  </a:t>
            </a:r>
            <a:r>
              <a:rPr lang="en-US" sz="14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Orquestrador simples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199"/>
              </a:spcAft>
            </a:pPr>
            <a:r>
              <a:rPr lang="en-US" sz="1050" b="1" u="none" strike="noStrike">
                <a:solidFill>
                  <a:srgbClr val="16a34a"/>
                </a:solidFill>
                <a:effectLst/>
                <a:uFillTx/>
                <a:latin typeface="Segoe UI"/>
              </a:rPr>
              <a:t>●  </a:t>
            </a:r>
            <a:r>
              <a:rPr lang="en-US" sz="14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Avaliação de resposta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Rounded Rectangle 10"/>
          <p:cNvSpPr/>
          <p:nvPr/>
        </p:nvSpPr>
        <p:spPr>
          <a:xfrm>
            <a:off x="6199560" y="2103120"/>
            <a:ext cx="5440320" cy="402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2" name="Rectangle 11"/>
          <p:cNvSpPr/>
          <p:nvPr/>
        </p:nvSpPr>
        <p:spPr>
          <a:xfrm>
            <a:off x="6199560" y="2103120"/>
            <a:ext cx="5440320" cy="56664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3" name="TextBox 12"/>
          <p:cNvSpPr/>
          <p:nvPr/>
        </p:nvSpPr>
        <p:spPr>
          <a:xfrm>
            <a:off x="6473880" y="221292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🚫  Fora do MVP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Box 13"/>
          <p:cNvSpPr/>
          <p:nvPr/>
        </p:nvSpPr>
        <p:spPr>
          <a:xfrm>
            <a:off x="6519600" y="2880360"/>
            <a:ext cx="484596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5000"/>
              </a:lnSpc>
              <a:spcAft>
                <a:spcPts val="1400"/>
              </a:spcAft>
            </a:pPr>
            <a:r>
              <a:rPr lang="en-US" sz="1050" b="1" u="none" strike="noStrike">
                <a:solidFill>
                  <a:srgbClr val="dc2626"/>
                </a:solidFill>
                <a:effectLst/>
                <a:uFillTx/>
                <a:latin typeface="Segoe UI"/>
              </a:rPr>
              <a:t>●  </a:t>
            </a:r>
            <a:r>
              <a:rPr lang="en-US" sz="14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Integração real com sistemas hospitalares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400"/>
              </a:spcAft>
            </a:pPr>
            <a:r>
              <a:rPr lang="en-US" sz="1050" b="1" u="none" strike="noStrike">
                <a:solidFill>
                  <a:srgbClr val="dc2626"/>
                </a:solidFill>
                <a:effectLst/>
                <a:uFillTx/>
                <a:latin typeface="Segoe UI"/>
              </a:rPr>
              <a:t>●  </a:t>
            </a:r>
            <a:r>
              <a:rPr lang="en-US" sz="14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Diagnóstico médico automatizado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400"/>
              </a:spcAft>
            </a:pPr>
            <a:r>
              <a:rPr lang="en-US" sz="1050" b="1" u="none" strike="noStrike">
                <a:solidFill>
                  <a:srgbClr val="dc2626"/>
                </a:solidFill>
                <a:effectLst/>
                <a:uFillTx/>
                <a:latin typeface="Segoe UI"/>
              </a:rPr>
              <a:t>●  </a:t>
            </a:r>
            <a:r>
              <a:rPr lang="en-US" sz="14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Ações automáticas sem confirmação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400"/>
              </a:spcAft>
            </a:pPr>
            <a:r>
              <a:rPr lang="en-US" sz="1050" b="1" u="none" strike="noStrike">
                <a:solidFill>
                  <a:srgbClr val="dc2626"/>
                </a:solidFill>
                <a:effectLst/>
                <a:uFillTx/>
                <a:latin typeface="Segoe UI"/>
              </a:rPr>
              <a:t>●  </a:t>
            </a:r>
            <a:r>
              <a:rPr lang="en-US" sz="14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Treinamento próprio de LLM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Box 14"/>
          <p:cNvSpPr/>
          <p:nvPr/>
        </p:nvSpPr>
        <p:spPr>
          <a:xfrm>
            <a:off x="10241280" y="641916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5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Segoe UI"/>
              </a:rPr>
              <a:t>CRM Dental · Agentic RAG     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Rounded Rectangle 1"/>
          <p:cNvSpPr/>
          <p:nvPr/>
        </p:nvSpPr>
        <p:spPr>
          <a:xfrm rot="1200000">
            <a:off x="-1371240" y="4114800"/>
            <a:ext cx="6400440" cy="6400440"/>
          </a:xfrm>
          <a:prstGeom prst="roundRect">
            <a:avLst>
              <a:gd name="adj" fmla="val 16667"/>
            </a:avLst>
          </a:prstGeom>
          <a:solidFill>
            <a:srgbClr val="0b52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7" name="Rounded Rectangle 2"/>
          <p:cNvSpPr/>
          <p:nvPr/>
        </p:nvSpPr>
        <p:spPr>
          <a:xfrm rot="1200000">
            <a:off x="8686800" y="-1828800"/>
            <a:ext cx="5486040" cy="548604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8" name="Rectangle 3"/>
          <p:cNvSpPr/>
          <p:nvPr/>
        </p:nvSpPr>
        <p:spPr>
          <a:xfrm>
            <a:off x="822960" y="1097280"/>
            <a:ext cx="548280" cy="11844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9" name="TextBox 4"/>
          <p:cNvSpPr/>
          <p:nvPr/>
        </p:nvSpPr>
        <p:spPr>
          <a:xfrm>
            <a:off x="822960" y="129852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lang="en-US" sz="1400" b="1" u="none" strike="noStrike">
                <a:solidFill>
                  <a:srgbClr val="06b6d4"/>
                </a:solidFill>
                <a:effectLst/>
                <a:uFillTx/>
                <a:latin typeface="Segoe UI"/>
              </a:rPr>
              <a:t>CONCLUSÃO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Box 5"/>
          <p:cNvSpPr/>
          <p:nvPr/>
        </p:nvSpPr>
        <p:spPr>
          <a:xfrm>
            <a:off x="786240" y="1828800"/>
            <a:ext cx="105152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O Agentic RAG torna o CRM Dental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mais inteligente: o sistema não apenas 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3200" b="1" u="none" strike="noStrike">
                <a:solidFill>
                  <a:srgbClr val="06b6d4"/>
                </a:solidFill>
                <a:effectLst/>
                <a:uFillTx/>
                <a:latin typeface="Segoe UI"/>
              </a:rPr>
              <a:t>busca</a:t>
            </a: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 — ele </a:t>
            </a:r>
            <a:r>
              <a:rPr lang="en-US" sz="3200" b="1" u="none" strike="noStrike">
                <a:solidFill>
                  <a:srgbClr val="06b6d4"/>
                </a:solidFill>
                <a:effectLst/>
                <a:uFillTx/>
                <a:latin typeface="Segoe UI"/>
              </a:rPr>
              <a:t>planeja, valida, usa ferramentas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400"/>
              </a:spcAf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e produz respostas mais confiáveis.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Rounded Rectangle 6"/>
          <p:cNvSpPr/>
          <p:nvPr/>
        </p:nvSpPr>
        <p:spPr>
          <a:xfrm>
            <a:off x="822960" y="5074920"/>
            <a:ext cx="2605680" cy="77688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Planeja a tarefa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Rounded Rectangle 7"/>
          <p:cNvSpPr/>
          <p:nvPr/>
        </p:nvSpPr>
        <p:spPr>
          <a:xfrm>
            <a:off x="3657600" y="5074920"/>
            <a:ext cx="2605680" cy="77688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Valida a evidência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Rounded Rectangle 8"/>
          <p:cNvSpPr/>
          <p:nvPr/>
        </p:nvSpPr>
        <p:spPr>
          <a:xfrm>
            <a:off x="6492240" y="5074920"/>
            <a:ext cx="2605680" cy="77688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Usa ferramentas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Rounded Rectangle 9"/>
          <p:cNvSpPr/>
          <p:nvPr/>
        </p:nvSpPr>
        <p:spPr>
          <a:xfrm>
            <a:off x="9326880" y="5074920"/>
            <a:ext cx="2605680" cy="77688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>
            <a:noFill/>
          </a:ln>
          <a:effectLst>
            <a:outerShdw blurRad="90000" dir="5400000" dist="39960" rotWithShape="0">
              <a:srgbClr val="0f172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Cita as fontes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Rounded Rectangle 1"/>
          <p:cNvSpPr/>
          <p:nvPr/>
        </p:nvSpPr>
        <p:spPr>
          <a:xfrm rot="1500000">
            <a:off x="8229600" y="3200040"/>
            <a:ext cx="6400440" cy="6400440"/>
          </a:xfrm>
          <a:prstGeom prst="roundRect">
            <a:avLst>
              <a:gd name="adj" fmla="val 16667"/>
            </a:avLst>
          </a:prstGeom>
          <a:solidFill>
            <a:srgbClr val="0b524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6" name="Rounded Rectangle 2"/>
          <p:cNvSpPr/>
          <p:nvPr/>
        </p:nvSpPr>
        <p:spPr>
          <a:xfrm rot="1500000">
            <a:off x="9601200" y="0"/>
            <a:ext cx="2194200" cy="219420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7" name="TextBox 3"/>
          <p:cNvSpPr/>
          <p:nvPr/>
        </p:nvSpPr>
        <p:spPr>
          <a:xfrm>
            <a:off x="0" y="2468880"/>
            <a:ext cx="121914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lang="en-US" sz="60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Perguntas?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Box 4"/>
          <p:cNvSpPr/>
          <p:nvPr/>
        </p:nvSpPr>
        <p:spPr>
          <a:xfrm>
            <a:off x="0" y="4023360"/>
            <a:ext cx="12191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lang="en-US" sz="2000" b="0" u="none" strike="noStrike">
                <a:solidFill>
                  <a:srgbClr val="06b6d4"/>
                </a:solidFill>
                <a:effectLst/>
                <a:uFillTx/>
                <a:latin typeface="Segoe UI"/>
              </a:rPr>
              <a:t>Obrigado pela atenção.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Box 5"/>
          <p:cNvSpPr/>
          <p:nvPr/>
        </p:nvSpPr>
        <p:spPr>
          <a:xfrm>
            <a:off x="0" y="4663440"/>
            <a:ext cx="1219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5000"/>
              </a:lnSpc>
            </a:pP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Segoe UI"/>
              </a:rPr>
              <a:t>CRM Dental com Chat Inteligente usando Agentic RAG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LibreOffice/25.8.6.2$Windows_X86_64 LibreOffice_project/b4b39682cd9868fa725bc664aff94278d315bd04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2026-06-11T17:32:44Z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